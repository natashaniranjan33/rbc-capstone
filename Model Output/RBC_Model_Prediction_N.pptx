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9" r:id="rId2"/>
    <p:sldId id="260" r:id="rId3"/>
    <p:sldId id="256" r:id="rId4"/>
    <p:sldId id="266" r:id="rId5"/>
    <p:sldId id="262" r:id="rId6"/>
    <p:sldId id="263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606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Conversion Prediction — XGBoost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97480" cy="347472"/>
          </a:xfrm>
          <a:prstGeom prst="rect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822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(57 vars)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697480" cy="2578608"/>
          </a:xfrm>
          <a:prstGeom prst="rect">
            <a:avLst/>
          </a:prstGeom>
          <a:solidFill>
            <a:srgbClr val="F0F3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316736"/>
            <a:ext cx="109728" cy="109728"/>
          </a:xfrm>
          <a:prstGeom prst="ellipse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26187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(age, age bands, marital status)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" y="1645920"/>
            <a:ext cx="109728" cy="109728"/>
          </a:xfrm>
          <a:prstGeom prst="ellipse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59105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association signals (# accounts, role types)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1975104"/>
            <a:ext cx="109728" cy="109728"/>
          </a:xfrm>
          <a:prstGeom prst="ellipse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19202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value (total, max, log-transformed)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" y="2304288"/>
            <a:ext cx="109728" cy="109728"/>
          </a:xfrm>
          <a:prstGeom prst="ellipse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24942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proximity (primary owner 70+, 80+)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" y="2633472"/>
            <a:ext cx="109728" cy="109728"/>
          </a:xfrm>
          <a:prstGeom prst="ellipse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" y="2962656"/>
            <a:ext cx="109728" cy="109728"/>
          </a:xfrm>
          <a:prstGeom prst="ellipse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55849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&amp; network signals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2648" y="287121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engagement history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822960"/>
            <a:ext cx="26974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822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1188720"/>
            <a:ext cx="2697480" cy="2578608"/>
          </a:xfrm>
          <a:prstGeom prst="rect">
            <a:avLst/>
          </a:prstGeom>
          <a:solidFill>
            <a:srgbClr val="F0F3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55848" y="1316736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38728" y="126187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estimators, max depth = 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55848" y="164592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38728" y="159105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0.05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55848" y="1975104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8728" y="19202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Subsample: 0.8, colsample: 0.8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55848" y="2304288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38728" y="224942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to handle class imbalance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55848" y="263347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38728" y="25786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(20 rounds) on validation AUC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55848" y="2962656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38728" y="290779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60/20/20 stratified train/val/test split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55848" y="329184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38728" y="323697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on train set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72200" y="822960"/>
            <a:ext cx="2697480" cy="347472"/>
          </a:xfrm>
          <a:prstGeom prst="rect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45352" y="822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Scoring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72200" y="1188720"/>
            <a:ext cx="2697480" cy="2578608"/>
          </a:xfrm>
          <a:prstGeom prst="rect">
            <a:avLst/>
          </a:prstGeom>
          <a:solidFill>
            <a:srgbClr val="F0F3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81928" y="1316736"/>
            <a:ext cx="109728" cy="109728"/>
          </a:xfrm>
          <a:prstGeom prst="ellipse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64808" y="126187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probability (0–1) per non-client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81928" y="1645920"/>
            <a:ext cx="109728" cy="109728"/>
          </a:xfrm>
          <a:prstGeom prst="ellipse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64808" y="159105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tiers: Low / Medium / High / Very High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81928" y="1975104"/>
            <a:ext cx="109728" cy="109728"/>
          </a:xfrm>
          <a:prstGeom prst="ellipse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64808" y="19202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3,582 priority prospects identified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81928" y="2304288"/>
            <a:ext cx="109728" cy="109728"/>
          </a:xfrm>
          <a:prstGeom prst="ellipse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64808" y="224942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1,585 Very High (prob ≥ 0.70)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81928" y="2633472"/>
            <a:ext cx="109728" cy="109728"/>
          </a:xfrm>
          <a:prstGeom prst="ellipse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64808" y="25786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1,997 High (prob 0.50–0.70)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81928" y="2962656"/>
            <a:ext cx="109728" cy="109728"/>
          </a:xfrm>
          <a:prstGeom prst="ellipse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64808" y="290779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clustering into 3 prospect segments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017520" y="1901952"/>
            <a:ext cx="228600" cy="0"/>
          </a:xfrm>
          <a:prstGeom prst="line">
            <a:avLst/>
          </a:prstGeom>
          <a:noFill/>
          <a:ln w="12700">
            <a:solidFill>
              <a:srgbClr val="277E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27832" y="1810512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943600" y="1901952"/>
            <a:ext cx="228600" cy="0"/>
          </a:xfrm>
          <a:prstGeom prst="line">
            <a:avLst/>
          </a:prstGeom>
          <a:noFill/>
          <a:ln w="12700">
            <a:solidFill>
              <a:srgbClr val="277E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53912" y="1810512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4320" y="3931920"/>
            <a:ext cx="8595360" cy="749808"/>
          </a:xfrm>
          <a:prstGeom prst="rect">
            <a:avLst/>
          </a:prstGeom>
          <a:solidFill>
            <a:srgbClr val="F0F3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39959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02920" y="42062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The model is deliberately leakage-free — all features are derived from a non-client's relationship to RBC accounts, not from client-side financial data. This ensures the scoring is applicable to prospecting workflows.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33856"/>
            <a:ext cx="8412480" cy="0"/>
          </a:xfrm>
          <a:prstGeom prst="line">
            <a:avLst/>
          </a:prstGeom>
          <a:noFill/>
          <a:ln w="12700">
            <a:solidFill>
              <a:srgbClr val="277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2070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17904"/>
            <a:ext cx="5029200" cy="329184"/>
          </a:xfrm>
          <a:prstGeom prst="rect">
            <a:avLst/>
          </a:prstGeom>
          <a:solidFill>
            <a:srgbClr val="F4F6FB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1790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51790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151790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0.9540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865376"/>
            <a:ext cx="5029200" cy="329184"/>
          </a:xfrm>
          <a:prstGeom prst="rect">
            <a:avLst/>
          </a:prstGeom>
          <a:solidFill>
            <a:srgbClr val="F0F3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86537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(5-fold)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186537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18653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0.9736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212848"/>
            <a:ext cx="5029200" cy="329184"/>
          </a:xfrm>
          <a:prstGeom prst="rect">
            <a:avLst/>
          </a:prstGeom>
          <a:solidFill>
            <a:srgbClr val="F4F6FB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21284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22128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221284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0.9530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560320"/>
            <a:ext cx="5029200" cy="329184"/>
          </a:xfrm>
          <a:prstGeom prst="rect">
            <a:avLst/>
          </a:prstGeom>
          <a:solidFill>
            <a:srgbClr val="F0F3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603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256032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0.9574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25603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0.9455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1170432"/>
            <a:ext cx="3291840" cy="841248"/>
          </a:xfrm>
          <a:prstGeom prst="rect">
            <a:avLst/>
          </a:prstGeom>
          <a:solidFill>
            <a:srgbClr val="F0F3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1170432"/>
            <a:ext cx="3291840" cy="54864"/>
          </a:xfrm>
          <a:prstGeom prst="rect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12435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0.9574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577840" y="16459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77840" y="181965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discriminative power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577840" y="2103120"/>
            <a:ext cx="3291840" cy="841248"/>
          </a:xfrm>
          <a:prstGeom prst="rect">
            <a:avLst/>
          </a:prstGeom>
          <a:solidFill>
            <a:srgbClr val="F0F3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7840" y="2103120"/>
            <a:ext cx="3291840" cy="54864"/>
          </a:xfrm>
          <a:prstGeom prst="rect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21762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0.9455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577840" y="2578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Precision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77840" y="275234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precision-recall balance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577840" y="3035808"/>
            <a:ext cx="3291840" cy="841248"/>
          </a:xfrm>
          <a:prstGeom prst="rect">
            <a:avLst/>
          </a:prstGeom>
          <a:solidFill>
            <a:srgbClr val="F0F3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3035808"/>
            <a:ext cx="3291840" cy="54864"/>
          </a:xfrm>
          <a:prstGeom prst="rect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1089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5577840" y="35112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 Capture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77840" y="368503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converters found in top quintile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F0F3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9959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4206240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of 0.9574 and average precision of 0.9455 confirm the model is leakage-free and generalizes well. Consistency across train, CV, and test splits indicates no overfitting.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The model can reliably rank non-clients by conversion likelihood for advisor-led outreach.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Conversion Risk — Priority Alert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</a:rPr>
              <a:t>1,585 clients flagged Very High priority  ·  Avg P(Conversion) 0.9946  ·  Top conversion probability: 0.9994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161553" y="932688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61553" y="932688"/>
            <a:ext cx="2011680" cy="411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553" y="9784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</a:rPr>
              <a:t>1,585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61553" y="1408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</a:rPr>
              <a:t>Very High Priority Clients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87201" y="932688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87201" y="932688"/>
            <a:ext cx="2011680" cy="41148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7201" y="9784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F5E"/>
                </a:solidFill>
              </a:rPr>
              <a:t>0.9946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87201" y="1408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</a:rPr>
              <a:t>Avg P(Conversion) Top 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390321" y="932688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90321" y="932688"/>
            <a:ext cx="2011680" cy="41148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0321" y="9784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F5E"/>
                </a:solidFill>
              </a:rPr>
              <a:t>0.9994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90321" y="1408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</a:rPr>
              <a:t>Highest Conv. Probability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37160" y="1828800"/>
            <a:ext cx="8869680" cy="27432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1828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PartyId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1732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P(Conversion)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1460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Priority Tier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11880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Age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6052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Accts Named 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57800" y="1828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Owner 70+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80760" y="1828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Owner 80+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03720" y="1828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 Household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37160" y="2103120"/>
            <a:ext cx="8869680" cy="2514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2103120"/>
            <a:ext cx="12344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4217772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417320" y="210312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0.9994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514600" y="210312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F5E"/>
                </a:solidFill>
              </a:rPr>
              <a:t>Very High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611880" y="210312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52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60520" y="210312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257800" y="210312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✗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080760" y="210312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✗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903720" y="2103120"/>
            <a:ext cx="960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AE60"/>
                </a:solidFill>
              </a:rPr>
              <a:t>✓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2880" y="2354580"/>
            <a:ext cx="12344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22859361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417320" y="235458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0.9987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14600" y="235458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F5E"/>
                </a:solidFill>
              </a:rPr>
              <a:t>Very High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11880" y="235458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37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160520" y="235458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2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257800" y="235458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✗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080760" y="235458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✗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903720" y="2354580"/>
            <a:ext cx="960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AE60"/>
                </a:solidFill>
              </a:rPr>
              <a:t>✓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37160" y="2606040"/>
            <a:ext cx="8869680" cy="2514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2606040"/>
            <a:ext cx="12344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1768293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417320" y="2606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0.9949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514600" y="2606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F5E"/>
                </a:solidFill>
              </a:rPr>
              <a:t>Very High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611880" y="2606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86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160520" y="2606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2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257800" y="260604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AE60"/>
                </a:solidFill>
              </a:rPr>
              <a:t>✓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080760" y="260604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AE60"/>
                </a:solidFill>
              </a:rPr>
              <a:t>✓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903720" y="2606040"/>
            <a:ext cx="960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✗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82880" y="2857500"/>
            <a:ext cx="12344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1157075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417320" y="285750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0.9945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514600" y="285750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F5E"/>
                </a:solidFill>
              </a:rPr>
              <a:t>Very High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611880" y="285750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68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160520" y="285750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4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257800" y="285750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AE60"/>
                </a:solidFill>
              </a:rPr>
              <a:t>✓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080760" y="285750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✗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903720" y="2857500"/>
            <a:ext cx="960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✗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37160" y="3108960"/>
            <a:ext cx="8869680" cy="2514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2880" y="3108960"/>
            <a:ext cx="12344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4981364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417320" y="310896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0.9942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514600" y="310896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F5E"/>
                </a:solidFill>
              </a:rPr>
              <a:t>Very High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611880" y="310896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96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160520" y="310896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0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257800" y="310896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✗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080760" y="310896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✗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903720" y="3108960"/>
            <a:ext cx="960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AE60"/>
                </a:solidFill>
              </a:rPr>
              <a:t>✓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82880" y="3360420"/>
            <a:ext cx="12344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1163105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1417320" y="336042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0.9932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2514600" y="336042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F5E"/>
                </a:solidFill>
              </a:rPr>
              <a:t>Very High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3611880" y="336042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57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160520" y="336042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0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257800" y="336042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✗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080760" y="336042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✗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903720" y="3360420"/>
            <a:ext cx="960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AE60"/>
                </a:solidFill>
              </a:rPr>
              <a:t>✓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137160" y="3611880"/>
            <a:ext cx="8869680" cy="2514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82880" y="3611880"/>
            <a:ext cx="12344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18390404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417320" y="361188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0.9929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514600" y="361188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F5E"/>
                </a:solidFill>
              </a:rPr>
              <a:t>Very High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3611880" y="361188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70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4160520" y="361188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2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257800" y="361188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✗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080760" y="361188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✗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903720" y="3611880"/>
            <a:ext cx="960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✗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182880" y="3863340"/>
            <a:ext cx="12344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16972785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1417320" y="38633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0.9886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2514600" y="38633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F5E"/>
                </a:solidFill>
              </a:rPr>
              <a:t>Very High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3611880" y="38633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57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4160520" y="38633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0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5257800" y="386334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✗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6080760" y="386334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</a:rPr>
              <a:t>✗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6903720" y="3863340"/>
            <a:ext cx="960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AE60"/>
                </a:solidFill>
              </a:rPr>
              <a:t>✓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28600" y="48234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CCCCCC"/>
                </a:solidFill>
              </a:rPr>
              <a:t>Note: Conversion probability from XGBoost model. Very High = top priority tier for advisor outreach.    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Feature Importance — Top Predictors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1C8"/>
                </a:solidFill>
              </a:rPr>
              <a:t>Top 15 Features by XGBoost Gain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2860"/>
          </a:xfrm>
          <a:prstGeom prst="rect">
            <a:avLst/>
          </a:prstGeom>
          <a:solidFill>
            <a:srgbClr val="2471C8"/>
          </a:solidFill>
          <a:ln w="12700">
            <a:solidFill>
              <a:srgbClr val="2471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70432"/>
            <a:ext cx="8778240" cy="2148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9576"/>
            <a:ext cx="2103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in_client_household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1211580"/>
            <a:ext cx="5989320" cy="1325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4460"/>
            <a:ext cx="2103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n_households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14600" y="1426464"/>
            <a:ext cx="3647117" cy="1325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600200"/>
            <a:ext cx="8778240" cy="2148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09344"/>
            <a:ext cx="2103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max_owner_age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4600" y="1641348"/>
            <a:ext cx="1346619" cy="1325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24228"/>
            <a:ext cx="2103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n_as_any_bene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14600" y="1856232"/>
            <a:ext cx="858824" cy="1325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029968"/>
            <a:ext cx="8778240" cy="2148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39112"/>
            <a:ext cx="2103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n_as_trusted_contact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14600" y="2071116"/>
            <a:ext cx="732881" cy="1325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253996"/>
            <a:ext cx="2103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associated_acct_age_mean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14600" y="2286000"/>
            <a:ext cx="632521" cy="1325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2459736"/>
            <a:ext cx="8778240" cy="2148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68880"/>
            <a:ext cx="2103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n_as_minor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14600" y="2500884"/>
            <a:ext cx="344122" cy="13258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683764"/>
            <a:ext cx="2103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marital_Single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14600" y="2715768"/>
            <a:ext cx="317341" cy="13258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2889504"/>
            <a:ext cx="8778240" cy="2148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898648"/>
            <a:ext cx="2103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n_accounts_named_on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14600" y="2930652"/>
            <a:ext cx="288817" cy="13258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113532"/>
            <a:ext cx="2103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n_as_primary_bene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14600" y="3145536"/>
            <a:ext cx="261239" cy="1325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3319272"/>
            <a:ext cx="8778240" cy="2148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328416"/>
            <a:ext cx="2103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n_as_contingent_bene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14600" y="3360420"/>
            <a:ext cx="229139" cy="1325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543300"/>
            <a:ext cx="2103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n_ira_accts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14600" y="3575304"/>
            <a:ext cx="174836" cy="13258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" y="3749040"/>
            <a:ext cx="8778240" cy="2148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758184"/>
            <a:ext cx="2103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associated_acct_age_max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14600" y="3790188"/>
            <a:ext cx="150537" cy="1325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973068"/>
            <a:ext cx="2103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log_portfolio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14600" y="4005072"/>
            <a:ext cx="150228" cy="13258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2880" y="4178808"/>
            <a:ext cx="8778240" cy="2148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187952"/>
            <a:ext cx="2103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n_campaigns_targeted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514600" y="4219956"/>
            <a:ext cx="143335" cy="1325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4466844"/>
            <a:ext cx="8503920" cy="509347"/>
          </a:xfrm>
          <a:prstGeom prst="rect">
            <a:avLst/>
          </a:prstGeom>
          <a:solidFill>
            <a:srgbClr val="EEF3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5125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B2F5E"/>
                </a:solidFill>
              </a:rPr>
              <a:t>Key Finding</a:t>
            </a:r>
            <a:endParaRPr lang="en-US" sz="950" dirty="0"/>
          </a:p>
          <a:p>
            <a:pPr marL="0" indent="0">
              <a:buNone/>
            </a:pPr>
            <a:r>
              <a:rPr lang="en-US" sz="880" dirty="0">
                <a:solidFill>
                  <a:srgbClr val="333333"/>
                </a:solidFill>
              </a:rPr>
              <a:t>Household membership (in_client_household) is by far the strongest predictor, followed by the number of associated households. Owner age and beneficiary-related features are the next most impactful drivers.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Scoring — Priority Tier Distribution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Tier Breakdown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33856"/>
            <a:ext cx="4023360" cy="0"/>
          </a:xfrm>
          <a:prstGeom prst="line">
            <a:avLst/>
          </a:prstGeom>
          <a:noFill/>
          <a:ln w="12700">
            <a:solidFill>
              <a:srgbClr val="277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3749040" cy="914400"/>
          </a:xfrm>
          <a:prstGeom prst="rect">
            <a:avLst/>
          </a:prstGeom>
          <a:solidFill>
            <a:srgbClr val="F0F3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61872"/>
            <a:ext cx="731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(≥ 70%)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5727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691640" y="1719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59152"/>
            <a:ext cx="3749040" cy="914400"/>
          </a:xfrm>
          <a:prstGeom prst="rect">
            <a:avLst/>
          </a:prstGeom>
          <a:solidFill>
            <a:srgbClr val="F0F3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59152"/>
            <a:ext cx="73152" cy="914400"/>
          </a:xfrm>
          <a:prstGeom prst="rect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231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(50–70%)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6700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1,997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28163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37490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29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Priority Prospects: 3,582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8412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Role of Priority Prospects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1133856"/>
            <a:ext cx="4206240" cy="0"/>
          </a:xfrm>
          <a:prstGeom prst="line">
            <a:avLst/>
          </a:prstGeom>
          <a:noFill/>
          <a:ln w="12700">
            <a:solidFill>
              <a:srgbClr val="277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2618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Beneficiary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46520" y="1298448"/>
            <a:ext cx="2194560" cy="182880"/>
          </a:xfrm>
          <a:prstGeom prst="rect">
            <a:avLst/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1298448"/>
            <a:ext cx="866851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59091" y="12618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(39.5%)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1737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Contingent Beneficiary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46520" y="1773936"/>
            <a:ext cx="2194560" cy="182880"/>
          </a:xfrm>
          <a:prstGeom prst="rect">
            <a:avLst/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1773936"/>
            <a:ext cx="250180" cy="182880"/>
          </a:xfrm>
          <a:prstGeom prst="rect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42420" y="1737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(11.4%)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22128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Contact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46520" y="2249424"/>
            <a:ext cx="2194560" cy="182880"/>
          </a:xfrm>
          <a:prstGeom prst="rect">
            <a:avLst/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2249424"/>
            <a:ext cx="171176" cy="182880"/>
          </a:xfrm>
          <a:prstGeom prst="rect">
            <a:avLst/>
          </a:prstGeom>
          <a:solidFill>
            <a:srgbClr val="72A7FF"/>
          </a:solidFill>
          <a:ln w="12700">
            <a:solidFill>
              <a:srgbClr val="72A7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63416" y="22128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(7.8%)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0" y="26883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 Bene Primary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46520" y="2724912"/>
            <a:ext cx="2194560" cy="182880"/>
          </a:xfrm>
          <a:prstGeom prst="rect">
            <a:avLst/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2724912"/>
            <a:ext cx="131674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3914" y="26883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(6%)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0" y="31638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/ Multiple Roles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46520" y="3200400"/>
            <a:ext cx="2194560" cy="182880"/>
          </a:xfrm>
          <a:prstGeom prst="rect">
            <a:avLst/>
          </a:prstGeom>
          <a:solidFill>
            <a:srgbClr val="E5E9F0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46520" y="3200400"/>
            <a:ext cx="774680" cy="182880"/>
          </a:xfrm>
          <a:prstGeom prst="rect">
            <a:avLst/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6920" y="31638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(35.3%)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F0F3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9959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4206240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Beneficiaries account for 39.5% of all priority prospects — the single largest and most actionable role segment.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Advisors should prioritize outreach to primary beneficiaries on high-value accounts, especially where the primary account holder is aged 70+.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Segmentation — KMeans Clustering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5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Prospect Segments (k = 3)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21214"/>
            <a:ext cx="8412480" cy="0"/>
          </a:xfrm>
          <a:prstGeom prst="line">
            <a:avLst/>
          </a:prstGeom>
          <a:noFill/>
          <a:ln w="12700">
            <a:solidFill>
              <a:srgbClr val="277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77006"/>
            <a:ext cx="2788920" cy="3246120"/>
          </a:xfrm>
          <a:prstGeom prst="rect">
            <a:avLst/>
          </a:prstGeom>
          <a:solidFill>
            <a:srgbClr val="F0F3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77006"/>
            <a:ext cx="27889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7700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1: Older Wealth-Adjacent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159821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3,582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25880" y="178109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163479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prob: 0.76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2073702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segment. Parties associated with accounts held by primary owners aged 60+. Includes beneficiaries, trusted contacts, and family members with strong inheritance proximity signals.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" y="295152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Actions: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9768" y="3189270"/>
            <a:ext cx="82296" cy="822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43550"/>
            <a:ext cx="2487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inheritance planning conversations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9768" y="3399582"/>
            <a:ext cx="82296" cy="822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53862"/>
            <a:ext cx="2487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review with primary owner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9768" y="3609894"/>
            <a:ext cx="82296" cy="822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64174"/>
            <a:ext cx="2487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onboarding support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46120" y="1077006"/>
            <a:ext cx="2788920" cy="3246120"/>
          </a:xfrm>
          <a:prstGeom prst="rect">
            <a:avLst/>
          </a:prstGeom>
          <a:solidFill>
            <a:srgbClr val="F0F3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1077006"/>
            <a:ext cx="2788920" cy="457200"/>
          </a:xfrm>
          <a:prstGeom prst="rect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700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2: High-Value Associates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55848" y="159821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251960" y="178109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163479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prob: 0.81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55848" y="2073702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Highest-value niche segment. Non-clients associated with accounts holding the largest portfolio balances. Log-portfolio signal dominates. These are likely spousal or family connections to top-tier clients.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55848" y="295152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Actions: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55848" y="3189270"/>
            <a:ext cx="82296" cy="82296"/>
          </a:xfrm>
          <a:prstGeom prst="ellipse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143550"/>
            <a:ext cx="2487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transfer &amp; estate planning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55848" y="3399582"/>
            <a:ext cx="82296" cy="82296"/>
          </a:xfrm>
          <a:prstGeom prst="ellipse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353862"/>
            <a:ext cx="2487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banking referrals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55848" y="3609894"/>
            <a:ext cx="82296" cy="82296"/>
          </a:xfrm>
          <a:prstGeom prst="ellipse">
            <a:avLst/>
          </a:prstGeom>
          <a:solidFill>
            <a:srgbClr val="277EFF"/>
          </a:solidFill>
          <a:ln w="12700">
            <a:solidFill>
              <a:srgbClr val="277E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3564174"/>
            <a:ext cx="2487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account upgrade conversations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72200" y="1077006"/>
            <a:ext cx="2788920" cy="3246120"/>
          </a:xfrm>
          <a:prstGeom prst="rect">
            <a:avLst/>
          </a:prstGeom>
          <a:solidFill>
            <a:srgbClr val="F0F3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1077006"/>
            <a:ext cx="2788920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107700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3: Minors — Long-term Opportunity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81928" y="159821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178040" y="178109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80960" y="163479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prob: 0.72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81928" y="2073702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distinct segment. Minors named on accounts (529, custodial). Lowest immediate urgency but represent long-term acquisition pipeline as they approach financial independence.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81928" y="295152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Actions: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81928" y="3189270"/>
            <a:ext cx="82296" cy="8229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3143550"/>
            <a:ext cx="2487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529 plan education outreach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281928" y="3399582"/>
            <a:ext cx="82296" cy="8229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3353862"/>
            <a:ext cx="2487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advisor relationship seeding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281928" y="3609894"/>
            <a:ext cx="82296" cy="8229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3564174"/>
            <a:ext cx="2487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investor onboarding (age 18+)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4320" y="4365932"/>
            <a:ext cx="8595360" cy="841248"/>
          </a:xfrm>
          <a:prstGeom prst="rect">
            <a:avLst/>
          </a:prstGeom>
          <a:solidFill>
            <a:srgbClr val="F0F3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390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920" y="4627000"/>
            <a:ext cx="8321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 dominates numerically (99.2%) but Segment 2 represents the highest revenue potential per-prospect given its association with the largest portfolios.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Advisors should apply differentiated outreach — estate planning conversations for Segment 1, wealth-transfer services for Segment 2, and long-term nurture for Segment 3.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928</Words>
  <Application>Microsoft Office PowerPoint</Application>
  <PresentationFormat>On-screen Show (16:9)</PresentationFormat>
  <Paragraphs>217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natasha niranjan</cp:lastModifiedBy>
  <cp:revision>8</cp:revision>
  <dcterms:created xsi:type="dcterms:W3CDTF">2026-04-07T15:07:31Z</dcterms:created>
  <dcterms:modified xsi:type="dcterms:W3CDTF">2026-04-10T14:16:08Z</dcterms:modified>
</cp:coreProperties>
</file>