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Lst>
  <p:sldSz cy="27432000" cx="36576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 name="Shape 8"/>
        <p:cNvGrpSpPr/>
        <p:nvPr/>
      </p:nvGrpSpPr>
      <p:grpSpPr>
        <a:xfrm>
          <a:off x="0" y="0"/>
          <a:ext cx="0" cy="0"/>
          <a:chOff x="0" y="0"/>
          <a:chExt cx="0" cy="0"/>
        </a:xfrm>
      </p:grpSpPr>
      <p:sp>
        <p:nvSpPr>
          <p:cNvPr id="9" name="Google Shape;9;p2"/>
          <p:cNvSpPr/>
          <p:nvPr/>
        </p:nvSpPr>
        <p:spPr>
          <a:xfrm>
            <a:off x="-8763000" y="0"/>
            <a:ext cx="8001000" cy="27432000"/>
          </a:xfrm>
          <a:prstGeom prst="rect">
            <a:avLst/>
          </a:prstGeom>
          <a:solidFill>
            <a:srgbClr val="D8D8D8"/>
          </a:solidFill>
          <a:ln>
            <a:noFill/>
          </a:ln>
        </p:spPr>
        <p:txBody>
          <a:bodyPr anchorCtr="0" anchor="t" bIns="142850" lIns="142850" spcFirstLastPara="1" rIns="142850" wrap="square" tIns="142850">
            <a:noAutofit/>
          </a:bodyPr>
          <a:lstStyle/>
          <a:p>
            <a:pPr indent="0" lvl="0" marL="0" marR="0" rtl="0" algn="l">
              <a:spcBef>
                <a:spcPts val="0"/>
              </a:spcBef>
              <a:spcAft>
                <a:spcPts val="0"/>
              </a:spcAft>
              <a:buNone/>
            </a:pPr>
            <a:r>
              <a:rPr b="0" i="0" lang="en-US" sz="6000" u="none" cap="none" strike="noStrike">
                <a:solidFill>
                  <a:srgbClr val="7F7F7F"/>
                </a:solidFill>
                <a:latin typeface="Calibri"/>
                <a:ea typeface="Calibri"/>
                <a:cs typeface="Calibri"/>
                <a:sym typeface="Calibri"/>
              </a:rPr>
              <a:t>Poster Print Size:</a:t>
            </a:r>
            <a:endParaRPr b="0" i="0" sz="6000"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rPr b="0" i="0" lang="en-US" sz="4083" u="none" cap="none" strike="noStrike">
                <a:solidFill>
                  <a:srgbClr val="7F7F7F"/>
                </a:solidFill>
                <a:latin typeface="Calibri"/>
                <a:ea typeface="Calibri"/>
                <a:cs typeface="Calibri"/>
                <a:sym typeface="Calibri"/>
              </a:rPr>
              <a:t>This poster template is 36” high by 48” wide. It can be used to print any poster with a 3:4 aspect ratio.</a:t>
            </a:r>
            <a:endParaRPr/>
          </a:p>
          <a:p>
            <a:pPr indent="0" lvl="0" marL="0" marR="0" rtl="0" algn="l">
              <a:spcBef>
                <a:spcPts val="1500"/>
              </a:spcBef>
              <a:spcAft>
                <a:spcPts val="0"/>
              </a:spcAft>
              <a:buNone/>
            </a:pPr>
            <a:r>
              <a:rPr b="0" i="0" lang="en-US" sz="6000" u="none" cap="none" strike="noStrike">
                <a:solidFill>
                  <a:srgbClr val="7F7F7F"/>
                </a:solidFill>
                <a:latin typeface="Calibri"/>
                <a:ea typeface="Calibri"/>
                <a:cs typeface="Calibri"/>
                <a:sym typeface="Calibri"/>
              </a:rPr>
              <a:t>Placeholders:</a:t>
            </a:r>
            <a:endParaRPr/>
          </a:p>
          <a:p>
            <a:pPr indent="0" lvl="0" marL="0" marR="0" rtl="0" algn="l">
              <a:spcBef>
                <a:spcPts val="1500"/>
              </a:spcBef>
              <a:spcAft>
                <a:spcPts val="0"/>
              </a:spcAft>
              <a:buNone/>
            </a:pPr>
            <a:r>
              <a:rPr b="0" i="0" lang="en-US" sz="4083" u="none" cap="none" strike="noStrik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a:p>
          <a:p>
            <a:pPr indent="0" lvl="0" marL="0" marR="0" rtl="0" algn="l">
              <a:spcBef>
                <a:spcPts val="1500"/>
              </a:spcBef>
              <a:spcAft>
                <a:spcPts val="0"/>
              </a:spcAft>
              <a:buNone/>
            </a:pPr>
            <a:r>
              <a:rPr b="0" i="0" lang="en-US" sz="6000" u="none" cap="none" strike="noStrike">
                <a:solidFill>
                  <a:srgbClr val="7F7F7F"/>
                </a:solidFill>
                <a:latin typeface="Calibri"/>
                <a:ea typeface="Calibri"/>
                <a:cs typeface="Calibri"/>
                <a:sym typeface="Calibri"/>
              </a:rPr>
              <a:t>Image Quality:</a:t>
            </a:r>
            <a:endParaRPr/>
          </a:p>
          <a:p>
            <a:pPr indent="0" lvl="0" marL="0" marR="0" rtl="0" algn="l">
              <a:spcBef>
                <a:spcPts val="1500"/>
              </a:spcBef>
              <a:spcAft>
                <a:spcPts val="0"/>
              </a:spcAft>
              <a:buNone/>
            </a:pPr>
            <a:r>
              <a:rPr b="0" i="0" lang="en-US" sz="4083" u="none" cap="none" strike="noStrike">
                <a:solidFill>
                  <a:srgbClr val="7F7F7F"/>
                </a:solidFill>
                <a:latin typeface="Calibri"/>
                <a:ea typeface="Calibri"/>
                <a:cs typeface="Calibri"/>
                <a:sym typeface="Calibri"/>
              </a:rPr>
              <a:t xml:space="preserve">You can place digital photos or logo art in your poster file by selecting the </a:t>
            </a:r>
            <a:r>
              <a:rPr b="1" i="0" lang="en-US" sz="4083" u="none" cap="none" strike="noStrike">
                <a:solidFill>
                  <a:srgbClr val="7F7F7F"/>
                </a:solidFill>
                <a:latin typeface="Calibri"/>
                <a:ea typeface="Calibri"/>
                <a:cs typeface="Calibri"/>
                <a:sym typeface="Calibri"/>
              </a:rPr>
              <a:t>Insert, Picture</a:t>
            </a:r>
            <a:r>
              <a:rPr b="0" i="0" lang="en-US" sz="4083" u="none" cap="none" strike="noStrike">
                <a:solidFill>
                  <a:srgbClr val="7F7F7F"/>
                </a:solidFill>
                <a:latin typeface="Calibri"/>
                <a:ea typeface="Calibri"/>
                <a:cs typeface="Calibri"/>
                <a:sym typeface="Calibri"/>
              </a:rPr>
              <a:t xml:space="preserve"> command, or by using standard copy &amp; paste. For best results, all graphic elements should be at least </a:t>
            </a:r>
            <a:r>
              <a:rPr b="1" i="0" lang="en-US" sz="4083" u="none" cap="none" strike="noStrike">
                <a:solidFill>
                  <a:srgbClr val="7F7F7F"/>
                </a:solidFill>
                <a:latin typeface="Calibri"/>
                <a:ea typeface="Calibri"/>
                <a:cs typeface="Calibri"/>
                <a:sym typeface="Calibri"/>
              </a:rPr>
              <a:t>150-200 pixels per inch in their final printed size</a:t>
            </a:r>
            <a:r>
              <a:rPr b="0" i="0" lang="en-US" sz="4083" u="none" cap="none" strike="noStrike">
                <a:solidFill>
                  <a:srgbClr val="7F7F7F"/>
                </a:solidFill>
                <a:latin typeface="Calibri"/>
                <a:ea typeface="Calibri"/>
                <a:cs typeface="Calibri"/>
                <a:sym typeface="Calibri"/>
              </a:rPr>
              <a:t>. For instance, a 1600 x 1200 pixel photo will usually look fine up to 8“-10” wide on your printed poster.</a:t>
            </a:r>
            <a:endParaRPr/>
          </a:p>
          <a:p>
            <a:pPr indent="0" lvl="0" marL="0" marR="0" rtl="0" algn="l">
              <a:spcBef>
                <a:spcPts val="1500"/>
              </a:spcBef>
              <a:spcAft>
                <a:spcPts val="0"/>
              </a:spcAft>
              <a:buNone/>
            </a:pPr>
            <a:r>
              <a:rPr b="0" i="0" lang="en-US" sz="4083" u="none" cap="none" strike="noStrik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a:p>
          <a:p>
            <a:pPr indent="0" lvl="0" marL="0" marR="0" rtl="0" algn="l">
              <a:spcBef>
                <a:spcPts val="1500"/>
              </a:spcBef>
              <a:spcAft>
                <a:spcPts val="0"/>
              </a:spcAft>
              <a:buNone/>
            </a:pPr>
            <a:r>
              <a:rPr b="0" i="0" lang="en-US" sz="4083" u="none" cap="none" strike="noStrik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a:p>
          <a:p>
            <a:pPr indent="0" lvl="0" marL="0" marR="0" rtl="0" algn="ctr">
              <a:spcBef>
                <a:spcPts val="1500"/>
              </a:spcBef>
              <a:spcAft>
                <a:spcPts val="0"/>
              </a:spcAft>
              <a:buNone/>
            </a:pPr>
            <a:br>
              <a:rPr b="0" i="0" lang="en-US" sz="3000" u="none" cap="none" strike="noStrike">
                <a:solidFill>
                  <a:srgbClr val="7F7F7F"/>
                </a:solidFill>
                <a:latin typeface="Calibri"/>
                <a:ea typeface="Calibri"/>
                <a:cs typeface="Calibri"/>
                <a:sym typeface="Calibri"/>
              </a:rPr>
            </a:br>
            <a:r>
              <a:rPr b="0" i="0" lang="en-US" sz="3000" u="none" cap="none" strike="noStrike">
                <a:solidFill>
                  <a:srgbClr val="7F7F7F"/>
                </a:solidFill>
                <a:latin typeface="Calibri"/>
                <a:ea typeface="Calibri"/>
                <a:cs typeface="Calibri"/>
                <a:sym typeface="Calibri"/>
              </a:rPr>
              <a:t>[This sidebar area does not print.]</a:t>
            </a:r>
            <a:endParaRPr/>
          </a:p>
        </p:txBody>
      </p:sp>
      <p:grpSp>
        <p:nvGrpSpPr>
          <p:cNvPr id="10" name="Google Shape;10;p2"/>
          <p:cNvGrpSpPr/>
          <p:nvPr/>
        </p:nvGrpSpPr>
        <p:grpSpPr>
          <a:xfrm>
            <a:off x="37338000" y="0"/>
            <a:ext cx="8001000" cy="27432000"/>
            <a:chOff x="33832800" y="0"/>
            <a:chExt cx="12801600" cy="43891200"/>
          </a:xfrm>
        </p:grpSpPr>
        <p:sp>
          <p:nvSpPr>
            <p:cNvPr id="11" name="Google Shape;11;p2"/>
            <p:cNvSpPr/>
            <p:nvPr/>
          </p:nvSpPr>
          <p:spPr>
            <a:xfrm>
              <a:off x="33832800" y="0"/>
              <a:ext cx="12801600" cy="43891200"/>
            </a:xfrm>
            <a:prstGeom prst="rect">
              <a:avLst/>
            </a:prstGeom>
            <a:solidFill>
              <a:srgbClr val="D8D8D8"/>
            </a:solidFill>
            <a:ln>
              <a:noFill/>
            </a:ln>
          </p:spPr>
          <p:txBody>
            <a:bodyPr anchorCtr="0" anchor="t" bIns="228600" lIns="228600" spcFirstLastPara="1" rIns="228600" wrap="square" tIns="228600">
              <a:noAutofit/>
            </a:bodyPr>
            <a:lstStyle/>
            <a:p>
              <a:pPr indent="0" lvl="0" marL="0" marR="0" rtl="0" algn="l">
                <a:spcBef>
                  <a:spcPts val="0"/>
                </a:spcBef>
                <a:spcAft>
                  <a:spcPts val="0"/>
                </a:spcAft>
                <a:buNone/>
              </a:pPr>
              <a:r>
                <a:rPr b="0" i="0" lang="en-US" sz="6000" u="none" cap="none" strike="noStrike">
                  <a:solidFill>
                    <a:srgbClr val="7F7F7F"/>
                  </a:solidFill>
                  <a:latin typeface="Calibri"/>
                  <a:ea typeface="Calibri"/>
                  <a:cs typeface="Calibri"/>
                  <a:sym typeface="Calibri"/>
                </a:rPr>
                <a:t>Change Color Theme:</a:t>
              </a:r>
              <a:endParaRPr b="0" i="0" sz="6000"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rPr b="0" i="0" lang="en-US" sz="4083" u="none" cap="none" strike="noStrike">
                  <a:solidFill>
                    <a:srgbClr val="7F7F7F"/>
                  </a:solidFill>
                  <a:latin typeface="Calibri"/>
                  <a:ea typeface="Calibri"/>
                  <a:cs typeface="Calibri"/>
                  <a:sym typeface="Calibri"/>
                </a:rPr>
                <a:t xml:space="preserve">This template is designed with a custom color theme named MSBA Poster. </a:t>
              </a:r>
              <a:endParaRPr b="0" i="0" sz="4083"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rPr b="0" i="0" lang="en-US" sz="4083" u="none" cap="none" strike="noStrike">
                  <a:solidFill>
                    <a:srgbClr val="7F7F7F"/>
                  </a:solidFill>
                  <a:latin typeface="Calibri"/>
                  <a:ea typeface="Calibri"/>
                  <a:cs typeface="Calibri"/>
                  <a:sym typeface="Calibri"/>
                </a:rPr>
                <a:t xml:space="preserve">To change the color theme, select the </a:t>
              </a:r>
              <a:r>
                <a:rPr b="1" i="0" lang="en-US" sz="4083" u="none" cap="none" strike="noStrike">
                  <a:solidFill>
                    <a:srgbClr val="7F7F7F"/>
                  </a:solidFill>
                  <a:latin typeface="Calibri"/>
                  <a:ea typeface="Calibri"/>
                  <a:cs typeface="Calibri"/>
                  <a:sym typeface="Calibri"/>
                </a:rPr>
                <a:t>Design</a:t>
              </a:r>
              <a:r>
                <a:rPr b="0" i="0" lang="en-US" sz="4083" u="none" cap="none" strike="noStrike">
                  <a:solidFill>
                    <a:srgbClr val="7F7F7F"/>
                  </a:solidFill>
                  <a:latin typeface="Calibri"/>
                  <a:ea typeface="Calibri"/>
                  <a:cs typeface="Calibri"/>
                  <a:sym typeface="Calibri"/>
                </a:rPr>
                <a:t xml:space="preserve"> tab, then select the </a:t>
              </a:r>
              <a:r>
                <a:rPr b="1" i="0" lang="en-US" sz="4083" u="none" cap="none" strike="noStrike">
                  <a:solidFill>
                    <a:srgbClr val="7F7F7F"/>
                  </a:solidFill>
                  <a:latin typeface="Calibri"/>
                  <a:ea typeface="Calibri"/>
                  <a:cs typeface="Calibri"/>
                  <a:sym typeface="Calibri"/>
                </a:rPr>
                <a:t>Colors</a:t>
              </a:r>
              <a:r>
                <a:rPr b="0" i="0" lang="en-US" sz="4083" u="none" cap="none" strike="noStrike">
                  <a:solidFill>
                    <a:srgbClr val="7F7F7F"/>
                  </a:solidFill>
                  <a:latin typeface="Calibri"/>
                  <a:ea typeface="Calibri"/>
                  <a:cs typeface="Calibri"/>
                  <a:sym typeface="Calibri"/>
                </a:rPr>
                <a:t xml:space="preserve"> drop-down list.</a:t>
              </a:r>
              <a:endParaRPr/>
            </a:p>
            <a:p>
              <a:pPr indent="0" lvl="0" marL="0" marR="0" rtl="0" algn="l">
                <a:spcBef>
                  <a:spcPts val="1500"/>
                </a:spcBef>
                <a:spcAft>
                  <a:spcPts val="0"/>
                </a:spcAft>
                <a:buNone/>
              </a:pPr>
              <a:r>
                <a:t/>
              </a:r>
              <a:endParaRPr b="0" i="0" sz="4083"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t/>
              </a:r>
              <a:endParaRPr b="0" i="0" sz="4083"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t/>
              </a:r>
              <a:endParaRPr b="0" i="0" sz="4083"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t/>
              </a:r>
              <a:endParaRPr b="0" i="0" sz="4083"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t/>
              </a:r>
              <a:endParaRPr b="0" i="0" sz="4083"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t/>
              </a:r>
              <a:endParaRPr b="0" i="0" sz="4083"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t/>
              </a:r>
              <a:endParaRPr b="0" i="0" sz="4083"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t/>
              </a:r>
              <a:endParaRPr b="0" i="0" sz="4083"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t/>
              </a:r>
              <a:endParaRPr b="0" i="0" sz="4083" u="none" cap="none" strike="noStrike">
                <a:solidFill>
                  <a:srgbClr val="7F7F7F"/>
                </a:solidFill>
                <a:latin typeface="Calibri"/>
                <a:ea typeface="Calibri"/>
                <a:cs typeface="Calibri"/>
                <a:sym typeface="Calibri"/>
              </a:endParaRPr>
            </a:p>
            <a:p>
              <a:pPr indent="0" lvl="0" marL="0" marR="0" rtl="0" algn="l">
                <a:spcBef>
                  <a:spcPts val="1500"/>
                </a:spcBef>
                <a:spcAft>
                  <a:spcPts val="0"/>
                </a:spcAft>
                <a:buNone/>
              </a:pPr>
              <a:r>
                <a:rPr b="0" i="0" lang="en-US" sz="4083" u="none" cap="none" strike="noStrike">
                  <a:solidFill>
                    <a:srgbClr val="7F7F7F"/>
                  </a:solidFill>
                  <a:latin typeface="Calibri"/>
                  <a:ea typeface="Calibri"/>
                  <a:cs typeface="Calibri"/>
                  <a:sym typeface="Calibri"/>
                </a:rPr>
                <a:t>The default color theme for this template is “Office”, so you can always return to that after trying some of the alternatives.</a:t>
              </a:r>
              <a:endParaRPr/>
            </a:p>
            <a:p>
              <a:pPr indent="0" lvl="0" marL="0" marR="0" rtl="0" algn="l">
                <a:spcBef>
                  <a:spcPts val="1500"/>
                </a:spcBef>
                <a:spcAft>
                  <a:spcPts val="0"/>
                </a:spcAft>
                <a:buNone/>
              </a:pPr>
              <a:r>
                <a:rPr b="0" i="0" lang="en-US" sz="6000" u="none" cap="none" strike="noStrike">
                  <a:solidFill>
                    <a:srgbClr val="7F7F7F"/>
                  </a:solidFill>
                  <a:latin typeface="Calibri"/>
                  <a:ea typeface="Calibri"/>
                  <a:cs typeface="Calibri"/>
                  <a:sym typeface="Calibri"/>
                </a:rPr>
                <a:t>Printing Your Poster:</a:t>
              </a:r>
              <a:endParaRPr/>
            </a:p>
            <a:p>
              <a:pPr indent="0" lvl="0" marL="0" marR="0" rtl="0" algn="l">
                <a:spcBef>
                  <a:spcPts val="1500"/>
                </a:spcBef>
                <a:spcAft>
                  <a:spcPts val="0"/>
                </a:spcAft>
                <a:buNone/>
              </a:pPr>
              <a:r>
                <a:rPr b="0" i="0" lang="en-US" sz="4083" u="none" cap="none" strike="noStrike">
                  <a:solidFill>
                    <a:srgbClr val="7F7F7F"/>
                  </a:solidFill>
                  <a:latin typeface="Calibri"/>
                  <a:ea typeface="Calibri"/>
                  <a:cs typeface="Calibri"/>
                  <a:sym typeface="Calibri"/>
                </a:rPr>
                <a:t xml:space="preserve">Once your poster file is ready, visit </a:t>
              </a:r>
              <a:r>
                <a:rPr b="1" i="0" lang="en-US" sz="4083" u="none" cap="none" strike="noStrike">
                  <a:solidFill>
                    <a:srgbClr val="7F7F7F"/>
                  </a:solidFill>
                  <a:latin typeface="Calibri"/>
                  <a:ea typeface="Calibri"/>
                  <a:cs typeface="Calibri"/>
                  <a:sym typeface="Calibri"/>
                </a:rPr>
                <a:t>www.genigraphics.com</a:t>
              </a:r>
              <a:r>
                <a:rPr b="0" i="0" lang="en-US" sz="4083" u="none" cap="none" strike="noStrike">
                  <a:solidFill>
                    <a:srgbClr val="7F7F7F"/>
                  </a:solidFill>
                  <a:latin typeface="Calibri"/>
                  <a:ea typeface="Calibri"/>
                  <a:cs typeface="Calibri"/>
                  <a:sym typeface="Calibri"/>
                </a:rPr>
                <a:t xml:space="preserve"> to order a high-quality, affordable poster print. Every order receives a free design review and we can deliver as fast as next business day within the US and Canada. </a:t>
              </a:r>
              <a:endParaRPr/>
            </a:p>
            <a:p>
              <a:pPr indent="0" lvl="0" marL="0" marR="0" rtl="0" algn="l">
                <a:spcBef>
                  <a:spcPts val="1500"/>
                </a:spcBef>
                <a:spcAft>
                  <a:spcPts val="0"/>
                </a:spcAft>
                <a:buNone/>
              </a:pPr>
              <a:r>
                <a:rPr b="0" i="0" lang="en-US" sz="4083" u="none" cap="none" strike="noStrike">
                  <a:solidFill>
                    <a:srgbClr val="7F7F7F"/>
                  </a:solidFill>
                  <a:latin typeface="Calibri"/>
                  <a:ea typeface="Calibri"/>
                  <a:cs typeface="Calibri"/>
                  <a:sym typeface="Calibri"/>
                </a:rPr>
                <a:t xml:space="preserve">Genigraphics® has been producing output from PowerPoint® longer than anyone in the industry; dating back to when we helped Microsoft® design the PowerPoint® software. </a:t>
              </a:r>
              <a:endParaRPr/>
            </a:p>
            <a:p>
              <a:pPr indent="0" lvl="0" marL="0" marR="0" rtl="0" algn="l">
                <a:spcBef>
                  <a:spcPts val="1500"/>
                </a:spcBef>
                <a:spcAft>
                  <a:spcPts val="0"/>
                </a:spcAft>
                <a:buNone/>
              </a:pPr>
              <a:r>
                <a:t/>
              </a:r>
              <a:endParaRPr b="0" i="0" sz="4083" u="none" cap="none" strike="noStrike">
                <a:solidFill>
                  <a:srgbClr val="7F7F7F"/>
                </a:solidFill>
                <a:latin typeface="Calibri"/>
                <a:ea typeface="Calibri"/>
                <a:cs typeface="Calibri"/>
                <a:sym typeface="Calibri"/>
              </a:endParaRPr>
            </a:p>
            <a:p>
              <a:pPr indent="0" lvl="0" marL="0" marR="0" rtl="0" algn="ctr">
                <a:spcBef>
                  <a:spcPts val="0"/>
                </a:spcBef>
                <a:spcAft>
                  <a:spcPts val="0"/>
                </a:spcAft>
                <a:buNone/>
              </a:pPr>
              <a:r>
                <a:rPr b="0" i="0" lang="en-US" sz="4083" u="none" cap="none" strike="noStrike">
                  <a:solidFill>
                    <a:srgbClr val="7F7F7F"/>
                  </a:solidFill>
                  <a:latin typeface="Calibri"/>
                  <a:ea typeface="Calibri"/>
                  <a:cs typeface="Calibri"/>
                  <a:sym typeface="Calibri"/>
                </a:rPr>
                <a:t>US and Canada:  1-800-790-4001</a:t>
              </a:r>
              <a:br>
                <a:rPr b="0" i="0" lang="en-US" sz="4083" u="none" cap="none" strike="noStrike">
                  <a:solidFill>
                    <a:srgbClr val="7F7F7F"/>
                  </a:solidFill>
                  <a:latin typeface="Calibri"/>
                  <a:ea typeface="Calibri"/>
                  <a:cs typeface="Calibri"/>
                  <a:sym typeface="Calibri"/>
                </a:rPr>
              </a:br>
              <a:r>
                <a:rPr b="0" i="0" lang="en-US" sz="4083" u="none" cap="none" strike="noStrike">
                  <a:solidFill>
                    <a:srgbClr val="7F7F7F"/>
                  </a:solidFill>
                  <a:latin typeface="Calibri"/>
                  <a:ea typeface="Calibri"/>
                  <a:cs typeface="Calibri"/>
                  <a:sym typeface="Calibri"/>
                </a:rPr>
                <a:t>Email: info@genigraphics.com</a:t>
              </a:r>
              <a:endParaRPr/>
            </a:p>
            <a:p>
              <a:pPr indent="0" lvl="0" marL="0" marR="0" rtl="0" algn="ctr">
                <a:spcBef>
                  <a:spcPts val="0"/>
                </a:spcBef>
                <a:spcAft>
                  <a:spcPts val="0"/>
                </a:spcAft>
                <a:buNone/>
              </a:pPr>
              <a:br>
                <a:rPr b="0" i="0" lang="en-US" sz="3000" u="none" cap="none" strike="noStrike">
                  <a:solidFill>
                    <a:srgbClr val="7F7F7F"/>
                  </a:solidFill>
                  <a:latin typeface="Calibri"/>
                  <a:ea typeface="Calibri"/>
                  <a:cs typeface="Calibri"/>
                  <a:sym typeface="Calibri"/>
                </a:rPr>
              </a:br>
              <a:r>
                <a:rPr b="0" i="0" lang="en-US" sz="3000" u="none" cap="none" strike="noStrike">
                  <a:solidFill>
                    <a:srgbClr val="7F7F7F"/>
                  </a:solidFill>
                  <a:latin typeface="Calibri"/>
                  <a:ea typeface="Calibri"/>
                  <a:cs typeface="Calibri"/>
                  <a:sym typeface="Calibri"/>
                </a:rPr>
                <a:t>[This sidebar area does not print.]</a:t>
              </a:r>
              <a:endParaRPr/>
            </a:p>
          </p:txBody>
        </p:sp>
        <p:pic>
          <p:nvPicPr>
            <p:cNvPr id="12" name="Google Shape;12;p2"/>
            <p:cNvPicPr preferRelativeResize="0"/>
            <p:nvPr/>
          </p:nvPicPr>
          <p:blipFill rotWithShape="1">
            <a:blip r:embed="rId2">
              <a:alphaModFix/>
            </a:blip>
            <a:srcRect b="0" l="0" r="0" t="0"/>
            <a:stretch/>
          </p:blipFill>
          <p:spPr>
            <a:xfrm>
              <a:off x="34281342" y="9260274"/>
              <a:ext cx="11904515" cy="10246926"/>
            </a:xfrm>
            <a:prstGeom prst="rect">
              <a:avLst/>
            </a:prstGeom>
            <a:noFill/>
            <a:ln>
              <a:noFill/>
            </a:ln>
          </p:spPr>
        </p:pic>
      </p:grpSp>
      <p:cxnSp>
        <p:nvCxnSpPr>
          <p:cNvPr id="13" name="Google Shape;13;p2"/>
          <p:cNvCxnSpPr/>
          <p:nvPr/>
        </p:nvCxnSpPr>
        <p:spPr>
          <a:xfrm>
            <a:off x="12151895" y="4652210"/>
            <a:ext cx="0" cy="19611473"/>
          </a:xfrm>
          <a:prstGeom prst="straightConnector1">
            <a:avLst/>
          </a:prstGeom>
          <a:noFill/>
          <a:ln cap="flat" cmpd="sng" w="12700">
            <a:solidFill>
              <a:schemeClr val="dk1"/>
            </a:solidFill>
            <a:prstDash val="solid"/>
            <a:miter lim="800000"/>
            <a:headEnd len="sm" w="sm" type="none"/>
            <a:tailEnd len="sm" w="sm" type="none"/>
          </a:ln>
        </p:spPr>
      </p:cxnSp>
      <p:grpSp>
        <p:nvGrpSpPr>
          <p:cNvPr id="14" name="Google Shape;14;p2"/>
          <p:cNvGrpSpPr/>
          <p:nvPr/>
        </p:nvGrpSpPr>
        <p:grpSpPr>
          <a:xfrm>
            <a:off x="1087363" y="4667983"/>
            <a:ext cx="10203699" cy="541238"/>
            <a:chOff x="1304835" y="6127062"/>
            <a:chExt cx="12244439" cy="649485"/>
          </a:xfrm>
        </p:grpSpPr>
        <p:sp>
          <p:nvSpPr>
            <p:cNvPr id="15" name="Google Shape;15;p2"/>
            <p:cNvSpPr/>
            <p:nvPr/>
          </p:nvSpPr>
          <p:spPr>
            <a:xfrm>
              <a:off x="1304835" y="6243903"/>
              <a:ext cx="411480" cy="41148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50" u="none" cap="none" strike="noStrike">
                <a:solidFill>
                  <a:schemeClr val="lt1"/>
                </a:solidFill>
                <a:latin typeface="Verdana"/>
                <a:ea typeface="Verdana"/>
                <a:cs typeface="Verdana"/>
                <a:sym typeface="Verdana"/>
              </a:endParaRPr>
            </a:p>
          </p:txBody>
        </p:sp>
        <p:sp>
          <p:nvSpPr>
            <p:cNvPr id="16" name="Google Shape;16;p2"/>
            <p:cNvSpPr txBox="1"/>
            <p:nvPr/>
          </p:nvSpPr>
          <p:spPr>
            <a:xfrm>
              <a:off x="2268089" y="6127062"/>
              <a:ext cx="11281185" cy="6494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917" u="none" cap="none" strike="noStrike">
                  <a:solidFill>
                    <a:schemeClr val="dk1"/>
                  </a:solidFill>
                  <a:latin typeface="Verdana"/>
                  <a:ea typeface="Verdana"/>
                  <a:cs typeface="Verdana"/>
                  <a:sym typeface="Verdana"/>
                </a:rPr>
                <a:t>ABSTRACT</a:t>
              </a:r>
              <a:endParaRPr/>
            </a:p>
          </p:txBody>
        </p:sp>
      </p:grpSp>
      <p:grpSp>
        <p:nvGrpSpPr>
          <p:cNvPr id="17" name="Google Shape;17;p2"/>
          <p:cNvGrpSpPr/>
          <p:nvPr/>
        </p:nvGrpSpPr>
        <p:grpSpPr>
          <a:xfrm>
            <a:off x="12980008" y="4667983"/>
            <a:ext cx="10503048" cy="541238"/>
            <a:chOff x="16065864" y="6127062"/>
            <a:chExt cx="12244439" cy="649485"/>
          </a:xfrm>
        </p:grpSpPr>
        <p:sp>
          <p:nvSpPr>
            <p:cNvPr id="18" name="Google Shape;18;p2"/>
            <p:cNvSpPr/>
            <p:nvPr/>
          </p:nvSpPr>
          <p:spPr>
            <a:xfrm>
              <a:off x="16065864" y="6243903"/>
              <a:ext cx="411480" cy="41148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50">
                <a:solidFill>
                  <a:schemeClr val="lt1"/>
                </a:solidFill>
                <a:latin typeface="Verdana"/>
                <a:ea typeface="Verdana"/>
                <a:cs typeface="Verdana"/>
                <a:sym typeface="Verdana"/>
              </a:endParaRPr>
            </a:p>
          </p:txBody>
        </p:sp>
        <p:sp>
          <p:nvSpPr>
            <p:cNvPr id="19" name="Google Shape;19;p2"/>
            <p:cNvSpPr txBox="1"/>
            <p:nvPr/>
          </p:nvSpPr>
          <p:spPr>
            <a:xfrm>
              <a:off x="17029118" y="6127062"/>
              <a:ext cx="11281185" cy="6494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917" cap="none">
                  <a:solidFill>
                    <a:schemeClr val="dk1"/>
                  </a:solidFill>
                  <a:latin typeface="Verdana"/>
                  <a:ea typeface="Verdana"/>
                  <a:cs typeface="Verdana"/>
                  <a:sym typeface="Verdana"/>
                </a:rPr>
                <a:t>METHODS AND MATERIALS</a:t>
              </a:r>
              <a:endParaRPr/>
            </a:p>
          </p:txBody>
        </p:sp>
      </p:grpSp>
      <p:cxnSp>
        <p:nvCxnSpPr>
          <p:cNvPr id="20" name="Google Shape;20;p2"/>
          <p:cNvCxnSpPr/>
          <p:nvPr/>
        </p:nvCxnSpPr>
        <p:spPr>
          <a:xfrm>
            <a:off x="24343895" y="4652210"/>
            <a:ext cx="0" cy="19611473"/>
          </a:xfrm>
          <a:prstGeom prst="straightConnector1">
            <a:avLst/>
          </a:prstGeom>
          <a:noFill/>
          <a:ln cap="flat" cmpd="sng" w="12700">
            <a:solidFill>
              <a:schemeClr val="dk1"/>
            </a:solidFill>
            <a:prstDash val="solid"/>
            <a:miter lim="800000"/>
            <a:headEnd len="sm" w="sm" type="none"/>
            <a:tailEnd len="sm" w="sm" type="none"/>
          </a:ln>
        </p:spPr>
      </p:cxnSp>
      <p:grpSp>
        <p:nvGrpSpPr>
          <p:cNvPr id="21" name="Google Shape;21;p2"/>
          <p:cNvGrpSpPr/>
          <p:nvPr/>
        </p:nvGrpSpPr>
        <p:grpSpPr>
          <a:xfrm>
            <a:off x="1087363" y="12505703"/>
            <a:ext cx="10203699" cy="541238"/>
            <a:chOff x="1304835" y="6127062"/>
            <a:chExt cx="12244439" cy="649485"/>
          </a:xfrm>
        </p:grpSpPr>
        <p:sp>
          <p:nvSpPr>
            <p:cNvPr id="22" name="Google Shape;22;p2"/>
            <p:cNvSpPr/>
            <p:nvPr/>
          </p:nvSpPr>
          <p:spPr>
            <a:xfrm>
              <a:off x="1304835" y="6243903"/>
              <a:ext cx="411480" cy="41148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50">
                <a:solidFill>
                  <a:schemeClr val="lt1"/>
                </a:solidFill>
                <a:latin typeface="Verdana"/>
                <a:ea typeface="Verdana"/>
                <a:cs typeface="Verdana"/>
                <a:sym typeface="Verdana"/>
              </a:endParaRPr>
            </a:p>
          </p:txBody>
        </p:sp>
        <p:sp>
          <p:nvSpPr>
            <p:cNvPr id="23" name="Google Shape;23;p2"/>
            <p:cNvSpPr txBox="1"/>
            <p:nvPr/>
          </p:nvSpPr>
          <p:spPr>
            <a:xfrm>
              <a:off x="2268089" y="6127062"/>
              <a:ext cx="11281185" cy="6494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917" cap="none">
                  <a:solidFill>
                    <a:schemeClr val="dk1"/>
                  </a:solidFill>
                  <a:latin typeface="Verdana"/>
                  <a:ea typeface="Verdana"/>
                  <a:cs typeface="Verdana"/>
                  <a:sym typeface="Verdana"/>
                </a:rPr>
                <a:t>INTRODUCTION</a:t>
              </a:r>
              <a:endParaRPr/>
            </a:p>
          </p:txBody>
        </p:sp>
      </p:grpSp>
      <p:sp>
        <p:nvSpPr>
          <p:cNvPr id="24" name="Google Shape;24;p2"/>
          <p:cNvSpPr/>
          <p:nvPr>
            <p:ph idx="2" type="pic"/>
          </p:nvPr>
        </p:nvSpPr>
        <p:spPr>
          <a:xfrm>
            <a:off x="1950137" y="20343421"/>
            <a:ext cx="4327072" cy="3945329"/>
          </a:xfrm>
          <a:prstGeom prst="rect">
            <a:avLst/>
          </a:prstGeom>
          <a:noFill/>
          <a:ln>
            <a:noFill/>
          </a:ln>
        </p:spPr>
      </p:sp>
      <p:sp>
        <p:nvSpPr>
          <p:cNvPr id="25" name="Google Shape;25;p2"/>
          <p:cNvSpPr/>
          <p:nvPr>
            <p:ph idx="3" type="pic"/>
          </p:nvPr>
        </p:nvSpPr>
        <p:spPr>
          <a:xfrm>
            <a:off x="7047151" y="20343421"/>
            <a:ext cx="4327072" cy="3945329"/>
          </a:xfrm>
          <a:prstGeom prst="rect">
            <a:avLst/>
          </a:prstGeom>
          <a:noFill/>
          <a:ln>
            <a:noFill/>
          </a:ln>
        </p:spPr>
      </p:sp>
      <p:sp>
        <p:nvSpPr>
          <p:cNvPr id="26" name="Google Shape;26;p2"/>
          <p:cNvSpPr txBox="1"/>
          <p:nvPr>
            <p:ph idx="1" type="body"/>
          </p:nvPr>
        </p:nvSpPr>
        <p:spPr>
          <a:xfrm>
            <a:off x="1917285" y="5453274"/>
            <a:ext cx="9368062" cy="645715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25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1pPr>
            <a:lvl2pPr indent="-228600" lvl="1" marL="9144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2pPr>
            <a:lvl3pPr indent="-228600" lvl="2" marL="13716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3pPr>
            <a:lvl4pPr indent="-228600" lvl="3" marL="18288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4pPr>
            <a:lvl5pPr indent="-228600" lvl="4" marL="22860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27" name="Google Shape;27;p2"/>
          <p:cNvSpPr txBox="1"/>
          <p:nvPr>
            <p:ph idx="4" type="body"/>
          </p:nvPr>
        </p:nvSpPr>
        <p:spPr>
          <a:xfrm>
            <a:off x="1930554" y="13305896"/>
            <a:ext cx="9400646" cy="654182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25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1pPr>
            <a:lvl2pPr indent="-228600" lvl="1" marL="9144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2pPr>
            <a:lvl3pPr indent="-228600" lvl="2" marL="13716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3pPr>
            <a:lvl4pPr indent="-228600" lvl="3" marL="18288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4pPr>
            <a:lvl5pPr indent="-228600" lvl="4" marL="22860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grpSp>
        <p:nvGrpSpPr>
          <p:cNvPr id="28" name="Google Shape;28;p2"/>
          <p:cNvGrpSpPr/>
          <p:nvPr/>
        </p:nvGrpSpPr>
        <p:grpSpPr>
          <a:xfrm>
            <a:off x="12980008" y="13591408"/>
            <a:ext cx="10503048" cy="541238"/>
            <a:chOff x="16065864" y="6127062"/>
            <a:chExt cx="12244439" cy="649485"/>
          </a:xfrm>
        </p:grpSpPr>
        <p:sp>
          <p:nvSpPr>
            <p:cNvPr id="29" name="Google Shape;29;p2"/>
            <p:cNvSpPr/>
            <p:nvPr/>
          </p:nvSpPr>
          <p:spPr>
            <a:xfrm>
              <a:off x="16065864" y="6243903"/>
              <a:ext cx="411480" cy="411480"/>
            </a:xfrm>
            <a:prstGeom prst="rect">
              <a:avLst/>
            </a:prstGeom>
            <a:solidFill>
              <a:srgbClr val="EF3A4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50">
                <a:solidFill>
                  <a:schemeClr val="lt1"/>
                </a:solidFill>
                <a:latin typeface="Verdana"/>
                <a:ea typeface="Verdana"/>
                <a:cs typeface="Verdana"/>
                <a:sym typeface="Verdana"/>
              </a:endParaRPr>
            </a:p>
          </p:txBody>
        </p:sp>
        <p:sp>
          <p:nvSpPr>
            <p:cNvPr id="30" name="Google Shape;30;p2"/>
            <p:cNvSpPr txBox="1"/>
            <p:nvPr/>
          </p:nvSpPr>
          <p:spPr>
            <a:xfrm>
              <a:off x="17029118" y="6127062"/>
              <a:ext cx="11281185" cy="6494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917" cap="none">
                  <a:solidFill>
                    <a:schemeClr val="dk1"/>
                  </a:solidFill>
                  <a:latin typeface="Verdana"/>
                  <a:ea typeface="Verdana"/>
                  <a:cs typeface="Verdana"/>
                  <a:sym typeface="Verdana"/>
                </a:rPr>
                <a:t>RESULTS</a:t>
              </a:r>
              <a:endParaRPr/>
            </a:p>
          </p:txBody>
        </p:sp>
      </p:grpSp>
      <p:sp>
        <p:nvSpPr>
          <p:cNvPr id="31" name="Google Shape;31;p2"/>
          <p:cNvSpPr txBox="1"/>
          <p:nvPr>
            <p:ph idx="5" type="body"/>
          </p:nvPr>
        </p:nvSpPr>
        <p:spPr>
          <a:xfrm>
            <a:off x="13851793" y="19393958"/>
            <a:ext cx="9602597" cy="486965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25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Verdana"/>
                <a:ea typeface="Verdana"/>
                <a:cs typeface="Verdana"/>
                <a:sym typeface="Verdana"/>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Verdana"/>
                <a:ea typeface="Verdana"/>
                <a:cs typeface="Verdana"/>
                <a:sym typeface="Verdana"/>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32" name="Google Shape;32;p2"/>
          <p:cNvSpPr txBox="1"/>
          <p:nvPr>
            <p:ph idx="6" type="body"/>
          </p:nvPr>
        </p:nvSpPr>
        <p:spPr>
          <a:xfrm>
            <a:off x="13851793" y="10350222"/>
            <a:ext cx="9602597" cy="264709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25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Verdana"/>
                <a:ea typeface="Verdana"/>
                <a:cs typeface="Verdana"/>
                <a:sym typeface="Verdana"/>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Verdana"/>
                <a:ea typeface="Verdana"/>
                <a:cs typeface="Verdana"/>
                <a:sym typeface="Verdana"/>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33" name="Google Shape;33;p2"/>
          <p:cNvSpPr txBox="1"/>
          <p:nvPr>
            <p:ph idx="7" type="body"/>
          </p:nvPr>
        </p:nvSpPr>
        <p:spPr>
          <a:xfrm>
            <a:off x="26012321" y="4765350"/>
            <a:ext cx="9271000" cy="4876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4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1pPr>
            <a:lvl2pPr indent="-360871" lvl="1" marL="914400" marR="0" rtl="0" algn="l">
              <a:lnSpc>
                <a:spcPct val="90000"/>
              </a:lnSpc>
              <a:spcBef>
                <a:spcPts val="2000"/>
              </a:spcBef>
              <a:spcAft>
                <a:spcPts val="0"/>
              </a:spcAft>
              <a:buClr>
                <a:schemeClr val="dk1"/>
              </a:buClr>
              <a:buSzPts val="2083"/>
              <a:buFont typeface="Arial"/>
              <a:buChar char="•"/>
              <a:defRPr b="0" i="0" sz="2083" u="none" cap="none" strike="noStrike">
                <a:solidFill>
                  <a:schemeClr val="dk1"/>
                </a:solidFill>
                <a:latin typeface="Verdana"/>
                <a:ea typeface="Verdana"/>
                <a:cs typeface="Verdana"/>
                <a:sym typeface="Verdana"/>
              </a:defRPr>
            </a:lvl2pPr>
            <a:lvl3pPr indent="-360871" lvl="2" marL="1371600" marR="0" rtl="0" algn="l">
              <a:lnSpc>
                <a:spcPct val="90000"/>
              </a:lnSpc>
              <a:spcBef>
                <a:spcPts val="2000"/>
              </a:spcBef>
              <a:spcAft>
                <a:spcPts val="0"/>
              </a:spcAft>
              <a:buClr>
                <a:schemeClr val="dk1"/>
              </a:buClr>
              <a:buSzPts val="2083"/>
              <a:buFont typeface="Arial"/>
              <a:buChar char="•"/>
              <a:defRPr b="0" i="0" sz="2083" u="none" cap="none" strike="noStrike">
                <a:solidFill>
                  <a:schemeClr val="dk1"/>
                </a:solidFill>
                <a:latin typeface="Verdana"/>
                <a:ea typeface="Verdana"/>
                <a:cs typeface="Verdana"/>
                <a:sym typeface="Verdana"/>
              </a:defRPr>
            </a:lvl3pPr>
            <a:lvl4pPr indent="-360871" lvl="3" marL="1828800" marR="0" rtl="0" algn="l">
              <a:lnSpc>
                <a:spcPct val="90000"/>
              </a:lnSpc>
              <a:spcBef>
                <a:spcPts val="2000"/>
              </a:spcBef>
              <a:spcAft>
                <a:spcPts val="0"/>
              </a:spcAft>
              <a:buClr>
                <a:schemeClr val="dk1"/>
              </a:buClr>
              <a:buSzPts val="2083"/>
              <a:buFont typeface="Arial"/>
              <a:buChar char="•"/>
              <a:defRPr b="0" i="0" sz="2083" u="none" cap="none" strike="noStrike">
                <a:solidFill>
                  <a:schemeClr val="dk1"/>
                </a:solidFill>
                <a:latin typeface="Verdana"/>
                <a:ea typeface="Verdana"/>
                <a:cs typeface="Verdana"/>
                <a:sym typeface="Verdana"/>
              </a:defRPr>
            </a:lvl4pPr>
            <a:lvl5pPr indent="-360870" lvl="4" marL="2286000" marR="0" rtl="0" algn="l">
              <a:lnSpc>
                <a:spcPct val="90000"/>
              </a:lnSpc>
              <a:spcBef>
                <a:spcPts val="2000"/>
              </a:spcBef>
              <a:spcAft>
                <a:spcPts val="0"/>
              </a:spcAft>
              <a:buClr>
                <a:schemeClr val="dk1"/>
              </a:buClr>
              <a:buSzPts val="2083"/>
              <a:buFont typeface="Arial"/>
              <a:buChar char="•"/>
              <a:defRPr b="0" i="0" sz="2083"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grpSp>
        <p:nvGrpSpPr>
          <p:cNvPr id="34" name="Google Shape;34;p2"/>
          <p:cNvGrpSpPr/>
          <p:nvPr/>
        </p:nvGrpSpPr>
        <p:grpSpPr>
          <a:xfrm>
            <a:off x="25151954" y="10463203"/>
            <a:ext cx="10503048" cy="541238"/>
            <a:chOff x="16065864" y="6127062"/>
            <a:chExt cx="12244439" cy="649485"/>
          </a:xfrm>
        </p:grpSpPr>
        <p:sp>
          <p:nvSpPr>
            <p:cNvPr id="35" name="Google Shape;35;p2"/>
            <p:cNvSpPr/>
            <p:nvPr/>
          </p:nvSpPr>
          <p:spPr>
            <a:xfrm>
              <a:off x="16065864" y="6243903"/>
              <a:ext cx="411480" cy="411480"/>
            </a:xfrm>
            <a:prstGeom prst="rect">
              <a:avLst/>
            </a:prstGeom>
            <a:solidFill>
              <a:srgbClr val="730B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50">
                <a:solidFill>
                  <a:schemeClr val="lt1"/>
                </a:solidFill>
                <a:latin typeface="Verdana"/>
                <a:ea typeface="Verdana"/>
                <a:cs typeface="Verdana"/>
                <a:sym typeface="Verdana"/>
              </a:endParaRPr>
            </a:p>
          </p:txBody>
        </p:sp>
        <p:sp>
          <p:nvSpPr>
            <p:cNvPr id="36" name="Google Shape;36;p2"/>
            <p:cNvSpPr txBox="1"/>
            <p:nvPr/>
          </p:nvSpPr>
          <p:spPr>
            <a:xfrm>
              <a:off x="17029118" y="6127062"/>
              <a:ext cx="11281185" cy="6494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917" cap="none">
                  <a:solidFill>
                    <a:schemeClr val="dk1"/>
                  </a:solidFill>
                  <a:latin typeface="Verdana"/>
                  <a:ea typeface="Verdana"/>
                  <a:cs typeface="Verdana"/>
                  <a:sym typeface="Verdana"/>
                </a:rPr>
                <a:t>DISCUSSION</a:t>
              </a:r>
              <a:endParaRPr/>
            </a:p>
          </p:txBody>
        </p:sp>
      </p:grpSp>
      <p:grpSp>
        <p:nvGrpSpPr>
          <p:cNvPr id="37" name="Google Shape;37;p2"/>
          <p:cNvGrpSpPr/>
          <p:nvPr/>
        </p:nvGrpSpPr>
        <p:grpSpPr>
          <a:xfrm>
            <a:off x="25151954" y="17381357"/>
            <a:ext cx="10503048" cy="541238"/>
            <a:chOff x="16065864" y="6127062"/>
            <a:chExt cx="12244439" cy="649485"/>
          </a:xfrm>
        </p:grpSpPr>
        <p:sp>
          <p:nvSpPr>
            <p:cNvPr id="38" name="Google Shape;38;p2"/>
            <p:cNvSpPr/>
            <p:nvPr/>
          </p:nvSpPr>
          <p:spPr>
            <a:xfrm>
              <a:off x="16065864" y="6243903"/>
              <a:ext cx="411480" cy="411480"/>
            </a:xfrm>
            <a:prstGeom prst="rect">
              <a:avLst/>
            </a:prstGeom>
            <a:solidFill>
              <a:srgbClr val="008B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50">
                <a:solidFill>
                  <a:schemeClr val="lt1"/>
                </a:solidFill>
                <a:latin typeface="Verdana"/>
                <a:ea typeface="Verdana"/>
                <a:cs typeface="Verdana"/>
                <a:sym typeface="Verdana"/>
              </a:endParaRPr>
            </a:p>
          </p:txBody>
        </p:sp>
        <p:sp>
          <p:nvSpPr>
            <p:cNvPr id="39" name="Google Shape;39;p2"/>
            <p:cNvSpPr txBox="1"/>
            <p:nvPr/>
          </p:nvSpPr>
          <p:spPr>
            <a:xfrm>
              <a:off x="17029118" y="6127062"/>
              <a:ext cx="11281185" cy="6494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917" cap="none">
                  <a:solidFill>
                    <a:schemeClr val="dk1"/>
                  </a:solidFill>
                  <a:latin typeface="Verdana"/>
                  <a:ea typeface="Verdana"/>
                  <a:cs typeface="Verdana"/>
                  <a:sym typeface="Verdana"/>
                </a:rPr>
                <a:t>CONCLUSIONS</a:t>
              </a:r>
              <a:endParaRPr/>
            </a:p>
          </p:txBody>
        </p:sp>
      </p:grpSp>
      <p:sp>
        <p:nvSpPr>
          <p:cNvPr id="40" name="Google Shape;40;p2"/>
          <p:cNvSpPr txBox="1"/>
          <p:nvPr>
            <p:ph idx="8" type="body"/>
          </p:nvPr>
        </p:nvSpPr>
        <p:spPr>
          <a:xfrm>
            <a:off x="13847536" y="5502702"/>
            <a:ext cx="9602597" cy="442049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25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1pPr>
            <a:lvl2pPr indent="-228600" lvl="1" marL="9144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2pPr>
            <a:lvl3pPr indent="-228600" lvl="2" marL="13716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3pPr>
            <a:lvl4pPr indent="-228600" lvl="3" marL="18288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4pPr>
            <a:lvl5pPr indent="-228600" lvl="4" marL="22860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41" name="Google Shape;41;p2"/>
          <p:cNvSpPr txBox="1"/>
          <p:nvPr>
            <p:ph idx="9" type="body"/>
          </p:nvPr>
        </p:nvSpPr>
        <p:spPr>
          <a:xfrm>
            <a:off x="13840374" y="14430425"/>
            <a:ext cx="9676787" cy="437464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25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1pPr>
            <a:lvl2pPr indent="-228600" lvl="1" marL="9144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2pPr>
            <a:lvl3pPr indent="-228600" lvl="2" marL="13716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3pPr>
            <a:lvl4pPr indent="-228600" lvl="3" marL="18288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4pPr>
            <a:lvl5pPr indent="-228600" lvl="4" marL="2286000" marR="0" rtl="0" algn="l">
              <a:lnSpc>
                <a:spcPct val="90000"/>
              </a:lnSpc>
              <a:spcBef>
                <a:spcPts val="2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42" name="Google Shape;42;p2"/>
          <p:cNvSpPr txBox="1"/>
          <p:nvPr>
            <p:ph idx="13" type="body"/>
          </p:nvPr>
        </p:nvSpPr>
        <p:spPr>
          <a:xfrm>
            <a:off x="26012323" y="11271249"/>
            <a:ext cx="9270998" cy="5562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4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1pPr>
            <a:lvl2pPr indent="-360871" lvl="1" marL="914400" marR="0" rtl="0" algn="l">
              <a:lnSpc>
                <a:spcPct val="90000"/>
              </a:lnSpc>
              <a:spcBef>
                <a:spcPts val="2000"/>
              </a:spcBef>
              <a:spcAft>
                <a:spcPts val="0"/>
              </a:spcAft>
              <a:buClr>
                <a:schemeClr val="dk1"/>
              </a:buClr>
              <a:buSzPts val="2083"/>
              <a:buFont typeface="Arial"/>
              <a:buChar char="•"/>
              <a:defRPr b="0" i="0" sz="2083" u="none" cap="none" strike="noStrike">
                <a:solidFill>
                  <a:schemeClr val="dk1"/>
                </a:solidFill>
                <a:latin typeface="Verdana"/>
                <a:ea typeface="Verdana"/>
                <a:cs typeface="Verdana"/>
                <a:sym typeface="Verdana"/>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Verdana"/>
                <a:ea typeface="Verdana"/>
                <a:cs typeface="Verdana"/>
                <a:sym typeface="Verdana"/>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43" name="Google Shape;43;p2"/>
          <p:cNvSpPr txBox="1"/>
          <p:nvPr>
            <p:ph idx="14" type="body"/>
          </p:nvPr>
        </p:nvSpPr>
        <p:spPr>
          <a:xfrm>
            <a:off x="26012323" y="18210893"/>
            <a:ext cx="9270998" cy="5562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4000"/>
              </a:spcBef>
              <a:spcAft>
                <a:spcPts val="0"/>
              </a:spcAft>
              <a:buClr>
                <a:schemeClr val="dk1"/>
              </a:buClr>
              <a:buSzPts val="2083"/>
              <a:buFont typeface="Arial"/>
              <a:buNone/>
              <a:defRPr b="0" i="0" sz="2083" u="none" cap="none" strike="noStrike">
                <a:solidFill>
                  <a:schemeClr val="dk1"/>
                </a:solidFill>
                <a:latin typeface="Verdana"/>
                <a:ea typeface="Verdana"/>
                <a:cs typeface="Verdana"/>
                <a:sym typeface="Verdana"/>
              </a:defRPr>
            </a:lvl1pPr>
            <a:lvl2pPr indent="-360871" lvl="1" marL="914400" marR="0" rtl="0" algn="l">
              <a:lnSpc>
                <a:spcPct val="90000"/>
              </a:lnSpc>
              <a:spcBef>
                <a:spcPts val="2000"/>
              </a:spcBef>
              <a:spcAft>
                <a:spcPts val="0"/>
              </a:spcAft>
              <a:buClr>
                <a:schemeClr val="dk1"/>
              </a:buClr>
              <a:buSzPts val="2083"/>
              <a:buFont typeface="Arial"/>
              <a:buChar char="•"/>
              <a:defRPr b="0" i="0" sz="2083" u="none" cap="none" strike="noStrike">
                <a:solidFill>
                  <a:schemeClr val="dk1"/>
                </a:solidFill>
                <a:latin typeface="Verdana"/>
                <a:ea typeface="Verdana"/>
                <a:cs typeface="Verdana"/>
                <a:sym typeface="Verdana"/>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Verdana"/>
                <a:ea typeface="Verdana"/>
                <a:cs typeface="Verdana"/>
                <a:sym typeface="Verdana"/>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44" name="Google Shape;44;p2"/>
          <p:cNvSpPr txBox="1"/>
          <p:nvPr>
            <p:ph idx="15" type="body"/>
          </p:nvPr>
        </p:nvSpPr>
        <p:spPr>
          <a:xfrm>
            <a:off x="12980458" y="925854"/>
            <a:ext cx="11371792" cy="127850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750"/>
              <a:buFont typeface="Arial"/>
              <a:buNone/>
              <a:defRPr b="0" i="0" sz="3750" u="none" cap="none" strike="noStrike">
                <a:solidFill>
                  <a:schemeClr val="lt1"/>
                </a:solidFill>
                <a:latin typeface="Verdana"/>
                <a:ea typeface="Verdana"/>
                <a:cs typeface="Verdana"/>
                <a:sym typeface="Verdana"/>
              </a:defRPr>
            </a:lvl1pPr>
            <a:lvl2pPr indent="-360871" lvl="1" marL="914400" marR="0" rtl="0" algn="l">
              <a:lnSpc>
                <a:spcPct val="90000"/>
              </a:lnSpc>
              <a:spcBef>
                <a:spcPts val="2000"/>
              </a:spcBef>
              <a:spcAft>
                <a:spcPts val="0"/>
              </a:spcAft>
              <a:buClr>
                <a:schemeClr val="dk1"/>
              </a:buClr>
              <a:buSzPts val="2083"/>
              <a:buFont typeface="Arial"/>
              <a:buChar char="•"/>
              <a:defRPr b="0" i="0" sz="2083" u="none" cap="none" strike="noStrike">
                <a:solidFill>
                  <a:schemeClr val="dk1"/>
                </a:solidFill>
                <a:latin typeface="Verdana"/>
                <a:ea typeface="Verdana"/>
                <a:cs typeface="Verdana"/>
                <a:sym typeface="Verdana"/>
              </a:defRPr>
            </a:lvl2pPr>
            <a:lvl3pPr indent="-360871" lvl="2" marL="1371600" marR="0" rtl="0" algn="l">
              <a:lnSpc>
                <a:spcPct val="90000"/>
              </a:lnSpc>
              <a:spcBef>
                <a:spcPts val="2000"/>
              </a:spcBef>
              <a:spcAft>
                <a:spcPts val="0"/>
              </a:spcAft>
              <a:buClr>
                <a:schemeClr val="dk1"/>
              </a:buClr>
              <a:buSzPts val="2083"/>
              <a:buFont typeface="Arial"/>
              <a:buChar char="•"/>
              <a:defRPr b="0" i="0" sz="2083" u="none" cap="none" strike="noStrike">
                <a:solidFill>
                  <a:schemeClr val="dk1"/>
                </a:solidFill>
                <a:latin typeface="Verdana"/>
                <a:ea typeface="Verdana"/>
                <a:cs typeface="Verdana"/>
                <a:sym typeface="Verdana"/>
              </a:defRPr>
            </a:lvl3pPr>
            <a:lvl4pPr indent="-360871" lvl="3" marL="1828800" marR="0" rtl="0" algn="l">
              <a:lnSpc>
                <a:spcPct val="90000"/>
              </a:lnSpc>
              <a:spcBef>
                <a:spcPts val="2000"/>
              </a:spcBef>
              <a:spcAft>
                <a:spcPts val="0"/>
              </a:spcAft>
              <a:buClr>
                <a:schemeClr val="dk1"/>
              </a:buClr>
              <a:buSzPts val="2083"/>
              <a:buFont typeface="Arial"/>
              <a:buChar char="•"/>
              <a:defRPr b="0" i="0" sz="2083" u="none" cap="none" strike="noStrike">
                <a:solidFill>
                  <a:schemeClr val="dk1"/>
                </a:solidFill>
                <a:latin typeface="Verdana"/>
                <a:ea typeface="Verdana"/>
                <a:cs typeface="Verdana"/>
                <a:sym typeface="Verdana"/>
              </a:defRPr>
            </a:lvl4pPr>
            <a:lvl5pPr indent="-360870" lvl="4" marL="2286000" marR="0" rtl="0" algn="l">
              <a:lnSpc>
                <a:spcPct val="90000"/>
              </a:lnSpc>
              <a:spcBef>
                <a:spcPts val="2000"/>
              </a:spcBef>
              <a:spcAft>
                <a:spcPts val="0"/>
              </a:spcAft>
              <a:buClr>
                <a:schemeClr val="dk1"/>
              </a:buClr>
              <a:buSzPts val="2083"/>
              <a:buFont typeface="Arial"/>
              <a:buChar char="•"/>
              <a:defRPr b="0" i="0" sz="2083"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45" name="Google Shape;45;p2"/>
          <p:cNvSpPr txBox="1"/>
          <p:nvPr/>
        </p:nvSpPr>
        <p:spPr>
          <a:xfrm>
            <a:off x="12933714" y="2332660"/>
            <a:ext cx="10516418" cy="5412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917">
                <a:solidFill>
                  <a:schemeClr val="lt1"/>
                </a:solidFill>
                <a:latin typeface="Verdana"/>
                <a:ea typeface="Verdana"/>
                <a:cs typeface="Verdana"/>
                <a:sym typeface="Verdana"/>
              </a:rPr>
              <a:t>MS in Business Analytics Capstone Project</a:t>
            </a:r>
            <a:endParaRPr/>
          </a:p>
        </p:txBody>
      </p:sp>
      <p:sp>
        <p:nvSpPr>
          <p:cNvPr id="46" name="Google Shape;46;p2"/>
          <p:cNvSpPr txBox="1"/>
          <p:nvPr>
            <p:ph idx="16" type="body"/>
          </p:nvPr>
        </p:nvSpPr>
        <p:spPr>
          <a:xfrm>
            <a:off x="25146000" y="844399"/>
            <a:ext cx="8137261" cy="19446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917"/>
              <a:buFont typeface="Arial"/>
              <a:buNone/>
              <a:defRPr b="0" i="0" sz="2917" u="none" cap="none" strike="noStrike">
                <a:solidFill>
                  <a:schemeClr val="lt1"/>
                </a:solidFill>
                <a:latin typeface="Verdana"/>
                <a:ea typeface="Verdana"/>
                <a:cs typeface="Verdana"/>
                <a:sym typeface="Verdana"/>
              </a:defRPr>
            </a:lvl1pPr>
            <a:lvl2pPr indent="-413830" lvl="1" marL="914400" marR="0" rtl="0" algn="l">
              <a:lnSpc>
                <a:spcPct val="90000"/>
              </a:lnSpc>
              <a:spcBef>
                <a:spcPts val="2000"/>
              </a:spcBef>
              <a:spcAft>
                <a:spcPts val="0"/>
              </a:spcAft>
              <a:buClr>
                <a:schemeClr val="dk1"/>
              </a:buClr>
              <a:buSzPts val="2917"/>
              <a:buFont typeface="Arial"/>
              <a:buChar char="•"/>
              <a:defRPr b="0" i="0" sz="2917" u="none" cap="none" strike="noStrike">
                <a:solidFill>
                  <a:schemeClr val="dk1"/>
                </a:solidFill>
                <a:latin typeface="Verdana"/>
                <a:ea typeface="Verdana"/>
                <a:cs typeface="Verdana"/>
                <a:sym typeface="Verdana"/>
              </a:defRPr>
            </a:lvl2pPr>
            <a:lvl3pPr indent="-413830" lvl="2" marL="1371600" marR="0" rtl="0" algn="l">
              <a:lnSpc>
                <a:spcPct val="90000"/>
              </a:lnSpc>
              <a:spcBef>
                <a:spcPts val="2000"/>
              </a:spcBef>
              <a:spcAft>
                <a:spcPts val="0"/>
              </a:spcAft>
              <a:buClr>
                <a:schemeClr val="dk1"/>
              </a:buClr>
              <a:buSzPts val="2917"/>
              <a:buFont typeface="Arial"/>
              <a:buChar char="•"/>
              <a:defRPr b="0" i="0" sz="2917" u="none" cap="none" strike="noStrike">
                <a:solidFill>
                  <a:schemeClr val="dk1"/>
                </a:solidFill>
                <a:latin typeface="Verdana"/>
                <a:ea typeface="Verdana"/>
                <a:cs typeface="Verdana"/>
                <a:sym typeface="Verdana"/>
              </a:defRPr>
            </a:lvl3pPr>
            <a:lvl4pPr indent="-413830" lvl="3" marL="1828800" marR="0" rtl="0" algn="l">
              <a:lnSpc>
                <a:spcPct val="90000"/>
              </a:lnSpc>
              <a:spcBef>
                <a:spcPts val="2000"/>
              </a:spcBef>
              <a:spcAft>
                <a:spcPts val="0"/>
              </a:spcAft>
              <a:buClr>
                <a:schemeClr val="dk1"/>
              </a:buClr>
              <a:buSzPts val="2917"/>
              <a:buFont typeface="Arial"/>
              <a:buChar char="•"/>
              <a:defRPr b="0" i="0" sz="2917" u="none" cap="none" strike="noStrike">
                <a:solidFill>
                  <a:schemeClr val="dk1"/>
                </a:solidFill>
                <a:latin typeface="Verdana"/>
                <a:ea typeface="Verdana"/>
                <a:cs typeface="Verdana"/>
                <a:sym typeface="Verdana"/>
              </a:defRPr>
            </a:lvl4pPr>
            <a:lvl5pPr indent="-228600" lvl="4" marL="2286000" marR="0" rtl="0" algn="l">
              <a:lnSpc>
                <a:spcPct val="90000"/>
              </a:lnSpc>
              <a:spcBef>
                <a:spcPts val="2000"/>
              </a:spcBef>
              <a:spcAft>
                <a:spcPts val="0"/>
              </a:spcAft>
              <a:buClr>
                <a:schemeClr val="dk1"/>
              </a:buClr>
              <a:buSzPts val="2917"/>
              <a:buFont typeface="Arial"/>
              <a:buNone/>
              <a:defRPr b="0" i="0" sz="2917"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grpSp>
        <p:nvGrpSpPr>
          <p:cNvPr id="47" name="Google Shape;47;p2"/>
          <p:cNvGrpSpPr/>
          <p:nvPr/>
        </p:nvGrpSpPr>
        <p:grpSpPr>
          <a:xfrm>
            <a:off x="1111253" y="25695777"/>
            <a:ext cx="2423160" cy="762000"/>
            <a:chOff x="2873542" y="30899100"/>
            <a:chExt cx="2907792" cy="914400"/>
          </a:xfrm>
        </p:grpSpPr>
        <p:sp>
          <p:nvSpPr>
            <p:cNvPr id="48" name="Google Shape;48;p2"/>
            <p:cNvSpPr txBox="1"/>
            <p:nvPr/>
          </p:nvSpPr>
          <p:spPr>
            <a:xfrm>
              <a:off x="2978705" y="31079302"/>
              <a:ext cx="2703481" cy="5724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500"/>
                <a:buFont typeface="Verdana"/>
                <a:buNone/>
              </a:pPr>
              <a:r>
                <a:rPr b="1" lang="en-US" sz="2500">
                  <a:solidFill>
                    <a:schemeClr val="lt1"/>
                  </a:solidFill>
                  <a:latin typeface="Verdana"/>
                  <a:ea typeface="Verdana"/>
                  <a:cs typeface="Verdana"/>
                  <a:sym typeface="Verdana"/>
                </a:rPr>
                <a:t>CONTACT</a:t>
              </a:r>
              <a:endParaRPr b="1" sz="2500">
                <a:solidFill>
                  <a:schemeClr val="dk1"/>
                </a:solidFill>
                <a:latin typeface="Verdana"/>
                <a:ea typeface="Verdana"/>
                <a:cs typeface="Verdana"/>
                <a:sym typeface="Verdana"/>
              </a:endParaRPr>
            </a:p>
          </p:txBody>
        </p:sp>
        <p:sp>
          <p:nvSpPr>
            <p:cNvPr id="49" name="Google Shape;49;p2"/>
            <p:cNvSpPr/>
            <p:nvPr/>
          </p:nvSpPr>
          <p:spPr>
            <a:xfrm>
              <a:off x="2873542" y="30899100"/>
              <a:ext cx="2907792" cy="914400"/>
            </a:xfrm>
            <a:prstGeom prst="rect">
              <a:avLst/>
            </a:pr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50">
                <a:solidFill>
                  <a:schemeClr val="lt1"/>
                </a:solidFill>
                <a:latin typeface="Verdana"/>
                <a:ea typeface="Verdana"/>
                <a:cs typeface="Verdana"/>
                <a:sym typeface="Verdana"/>
              </a:endParaRPr>
            </a:p>
          </p:txBody>
        </p:sp>
      </p:grpSp>
      <p:grpSp>
        <p:nvGrpSpPr>
          <p:cNvPr id="50" name="Google Shape;50;p2"/>
          <p:cNvGrpSpPr/>
          <p:nvPr/>
        </p:nvGrpSpPr>
        <p:grpSpPr>
          <a:xfrm>
            <a:off x="15526503" y="25697678"/>
            <a:ext cx="3124200" cy="762000"/>
            <a:chOff x="12088520" y="31206179"/>
            <a:chExt cx="3749040" cy="914400"/>
          </a:xfrm>
        </p:grpSpPr>
        <p:sp>
          <p:nvSpPr>
            <p:cNvPr id="51" name="Google Shape;51;p2"/>
            <p:cNvSpPr txBox="1"/>
            <p:nvPr/>
          </p:nvSpPr>
          <p:spPr>
            <a:xfrm>
              <a:off x="12190674" y="31356300"/>
              <a:ext cx="3555257" cy="572465"/>
            </a:xfrm>
            <a:prstGeom prst="rect">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lt1"/>
                </a:buClr>
                <a:buSzPts val="2500"/>
                <a:buFont typeface="Verdana"/>
                <a:buNone/>
              </a:pPr>
              <a:r>
                <a:rPr b="1" lang="en-US" sz="2500" cap="none">
                  <a:solidFill>
                    <a:schemeClr val="lt1"/>
                  </a:solidFill>
                  <a:latin typeface="Verdana"/>
                  <a:ea typeface="Verdana"/>
                  <a:cs typeface="Verdana"/>
                  <a:sym typeface="Verdana"/>
                </a:rPr>
                <a:t>REFERENCES</a:t>
              </a:r>
              <a:endParaRPr b="1" sz="2500" cap="none">
                <a:solidFill>
                  <a:schemeClr val="dk1"/>
                </a:solidFill>
                <a:latin typeface="Verdana"/>
                <a:ea typeface="Verdana"/>
                <a:cs typeface="Verdana"/>
                <a:sym typeface="Verdana"/>
              </a:endParaRPr>
            </a:p>
          </p:txBody>
        </p:sp>
        <p:sp>
          <p:nvSpPr>
            <p:cNvPr id="52" name="Google Shape;52;p2"/>
            <p:cNvSpPr/>
            <p:nvPr/>
          </p:nvSpPr>
          <p:spPr>
            <a:xfrm>
              <a:off x="12088520" y="31206179"/>
              <a:ext cx="3749040" cy="914400"/>
            </a:xfrm>
            <a:prstGeom prst="rect">
              <a:avLst/>
            </a:pr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50">
                <a:solidFill>
                  <a:schemeClr val="lt1"/>
                </a:solidFill>
                <a:latin typeface="Verdana"/>
                <a:ea typeface="Verdana"/>
                <a:cs typeface="Verdana"/>
                <a:sym typeface="Verdana"/>
              </a:endParaRPr>
            </a:p>
          </p:txBody>
        </p:sp>
      </p:grpSp>
      <p:sp>
        <p:nvSpPr>
          <p:cNvPr id="53" name="Google Shape;53;p2"/>
          <p:cNvSpPr txBox="1"/>
          <p:nvPr>
            <p:ph idx="17" type="body"/>
          </p:nvPr>
        </p:nvSpPr>
        <p:spPr>
          <a:xfrm>
            <a:off x="4394602" y="25607212"/>
            <a:ext cx="4724400" cy="119647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chemeClr val="lt1"/>
              </a:buClr>
              <a:buSzPts val="2500"/>
              <a:buFont typeface="Arial"/>
              <a:buNone/>
              <a:defRPr b="0" i="0" sz="2500" u="none" cap="none" strike="noStrike">
                <a:solidFill>
                  <a:schemeClr val="lt1"/>
                </a:solidFill>
                <a:latin typeface="Verdana"/>
                <a:ea typeface="Verdana"/>
                <a:cs typeface="Verdana"/>
                <a:sym typeface="Verdana"/>
              </a:defRPr>
            </a:lvl1pPr>
            <a:lvl2pPr indent="-387350" lvl="1" marL="9144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2pPr>
            <a:lvl3pPr indent="-387350" lvl="2" marL="13716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3pPr>
            <a:lvl4pPr indent="-387350" lvl="3" marL="18288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4pPr>
            <a:lvl5pPr indent="-387350" lvl="4" marL="22860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54" name="Google Shape;54;p2"/>
          <p:cNvSpPr txBox="1"/>
          <p:nvPr>
            <p:ph idx="18" type="body"/>
          </p:nvPr>
        </p:nvSpPr>
        <p:spPr>
          <a:xfrm>
            <a:off x="9728603" y="25607212"/>
            <a:ext cx="4724400" cy="119647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chemeClr val="lt1"/>
              </a:buClr>
              <a:buSzPts val="2500"/>
              <a:buFont typeface="Arial"/>
              <a:buNone/>
              <a:defRPr b="0" i="0" sz="2500" u="none" cap="none" strike="noStrike">
                <a:solidFill>
                  <a:schemeClr val="lt1"/>
                </a:solidFill>
                <a:latin typeface="Verdana"/>
                <a:ea typeface="Verdana"/>
                <a:cs typeface="Verdana"/>
                <a:sym typeface="Verdana"/>
              </a:defRPr>
            </a:lvl1pPr>
            <a:lvl2pPr indent="-387350" lvl="1" marL="9144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2pPr>
            <a:lvl3pPr indent="-387350" lvl="2" marL="13716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3pPr>
            <a:lvl4pPr indent="-387350" lvl="3" marL="18288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4pPr>
            <a:lvl5pPr indent="-387350" lvl="4" marL="22860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55" name="Google Shape;55;p2"/>
          <p:cNvSpPr txBox="1"/>
          <p:nvPr>
            <p:ph idx="19" type="body"/>
          </p:nvPr>
        </p:nvSpPr>
        <p:spPr>
          <a:xfrm>
            <a:off x="19580177" y="25607212"/>
            <a:ext cx="5029200" cy="119647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chemeClr val="lt1"/>
              </a:buClr>
              <a:buSzPts val="2500"/>
              <a:buFont typeface="Arial"/>
              <a:buNone/>
              <a:defRPr b="0" i="0" sz="2500" u="none" cap="none" strike="noStrike">
                <a:solidFill>
                  <a:schemeClr val="lt1"/>
                </a:solidFill>
                <a:latin typeface="Verdana"/>
                <a:ea typeface="Verdana"/>
                <a:cs typeface="Verdana"/>
                <a:sym typeface="Verdana"/>
              </a:defRPr>
            </a:lvl1pPr>
            <a:lvl2pPr indent="-387350" lvl="1" marL="9144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2pPr>
            <a:lvl3pPr indent="-387350" lvl="2" marL="13716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3pPr>
            <a:lvl4pPr indent="-387350" lvl="3" marL="18288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4pPr>
            <a:lvl5pPr indent="-387350" lvl="4" marL="22860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56" name="Google Shape;56;p2"/>
          <p:cNvSpPr txBox="1"/>
          <p:nvPr>
            <p:ph idx="20" type="body"/>
          </p:nvPr>
        </p:nvSpPr>
        <p:spPr>
          <a:xfrm>
            <a:off x="30302600" y="25607212"/>
            <a:ext cx="5029200" cy="119647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chemeClr val="lt1"/>
              </a:buClr>
              <a:buSzPts val="2500"/>
              <a:buFont typeface="Arial"/>
              <a:buNone/>
              <a:defRPr b="0" i="0" sz="2500" u="none" cap="none" strike="noStrike">
                <a:solidFill>
                  <a:schemeClr val="lt1"/>
                </a:solidFill>
                <a:latin typeface="Verdana"/>
                <a:ea typeface="Verdana"/>
                <a:cs typeface="Verdana"/>
                <a:sym typeface="Verdana"/>
              </a:defRPr>
            </a:lvl1pPr>
            <a:lvl2pPr indent="-387350" lvl="1" marL="9144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2pPr>
            <a:lvl3pPr indent="-387350" lvl="2" marL="13716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3pPr>
            <a:lvl4pPr indent="-387350" lvl="3" marL="18288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4pPr>
            <a:lvl5pPr indent="-387350" lvl="4" marL="22860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
        <p:nvSpPr>
          <p:cNvPr id="57" name="Google Shape;57;p2"/>
          <p:cNvSpPr txBox="1"/>
          <p:nvPr>
            <p:ph idx="21" type="body"/>
          </p:nvPr>
        </p:nvSpPr>
        <p:spPr>
          <a:xfrm>
            <a:off x="24968601" y="25607212"/>
            <a:ext cx="5029200" cy="119647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0000"/>
              </a:lnSpc>
              <a:spcBef>
                <a:spcPts val="0"/>
              </a:spcBef>
              <a:spcAft>
                <a:spcPts val="0"/>
              </a:spcAft>
              <a:buClr>
                <a:schemeClr val="lt1"/>
              </a:buClr>
              <a:buSzPts val="2500"/>
              <a:buFont typeface="Arial"/>
              <a:buNone/>
              <a:defRPr b="0" i="0" sz="2500" u="none" cap="none" strike="noStrike">
                <a:solidFill>
                  <a:schemeClr val="lt1"/>
                </a:solidFill>
                <a:latin typeface="Verdana"/>
                <a:ea typeface="Verdana"/>
                <a:cs typeface="Verdana"/>
                <a:sym typeface="Verdana"/>
              </a:defRPr>
            </a:lvl1pPr>
            <a:lvl2pPr indent="-387350" lvl="1" marL="9144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2pPr>
            <a:lvl3pPr indent="-387350" lvl="2" marL="13716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3pPr>
            <a:lvl4pPr indent="-387350" lvl="3" marL="18288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4pPr>
            <a:lvl5pPr indent="-387350" lvl="4" marL="2286000" marR="0" rtl="0" algn="l">
              <a:lnSpc>
                <a:spcPct val="90000"/>
              </a:lnSpc>
              <a:spcBef>
                <a:spcPts val="2000"/>
              </a:spcBef>
              <a:spcAft>
                <a:spcPts val="0"/>
              </a:spcAft>
              <a:buClr>
                <a:schemeClr val="dk1"/>
              </a:buClr>
              <a:buSzPts val="2500"/>
              <a:buFont typeface="Arial"/>
              <a:buChar char="•"/>
              <a:defRPr b="0" i="0" sz="2500" u="none" cap="none" strike="noStrike">
                <a:solidFill>
                  <a:schemeClr val="dk1"/>
                </a:solidFill>
                <a:latin typeface="Verdana"/>
                <a:ea typeface="Verdana"/>
                <a:cs typeface="Verdana"/>
                <a:sym typeface="Verdana"/>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24989870"/>
            <a:ext cx="36576000" cy="24384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50" u="none" cap="none" strike="noStrike">
              <a:solidFill>
                <a:schemeClr val="lt1"/>
              </a:solidFill>
              <a:latin typeface="Verdana"/>
              <a:ea typeface="Verdana"/>
              <a:cs typeface="Verdana"/>
              <a:sym typeface="Verdana"/>
            </a:endParaRPr>
          </a:p>
        </p:txBody>
      </p:sp>
      <p:pic>
        <p:nvPicPr>
          <p:cNvPr id="7" name="Google Shape;7;p1"/>
          <p:cNvPicPr preferRelativeResize="0"/>
          <p:nvPr/>
        </p:nvPicPr>
        <p:blipFill rotWithShape="1">
          <a:blip r:embed="rId1">
            <a:alphaModFix/>
          </a:blip>
          <a:srcRect b="0" l="0" r="0" t="0"/>
          <a:stretch/>
        </p:blipFill>
        <p:spPr>
          <a:xfrm>
            <a:off x="0" y="0"/>
            <a:ext cx="36576000" cy="398021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abeesani@tepper.cmu.edu" TargetMode="External"/><Relationship Id="rId4" Type="http://schemas.openxmlformats.org/officeDocument/2006/relationships/hyperlink" Target="mailto:celestez@tepper.cmu.edu" TargetMode="External"/><Relationship Id="rId10" Type="http://schemas.openxmlformats.org/officeDocument/2006/relationships/image" Target="../media/image4.png"/><Relationship Id="rId9" Type="http://schemas.openxmlformats.org/officeDocument/2006/relationships/image" Target="../media/image2.png"/><Relationship Id="rId5" Type="http://schemas.openxmlformats.org/officeDocument/2006/relationships/hyperlink" Target="mailto:kwang5@tepper.cmu.edu" TargetMode="External"/><Relationship Id="rId6" Type="http://schemas.openxmlformats.org/officeDocument/2006/relationships/hyperlink" Target="mailto:nniranj2@tepper.cmu.edu" TargetMode="External"/><Relationship Id="rId7" Type="http://schemas.openxmlformats.org/officeDocument/2006/relationships/image" Target="../media/image3.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idx="1" type="body"/>
          </p:nvPr>
        </p:nvSpPr>
        <p:spPr>
          <a:xfrm>
            <a:off x="1917285" y="5453274"/>
            <a:ext cx="9368062" cy="645715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b="1" lang="en-US" sz="2000"/>
              <a:t>Segmenting Active Wealth Clients: Portfolio Behavior, Risk, and Consolidation Opportunity</a:t>
            </a:r>
            <a:endParaRPr b="1" sz="2000"/>
          </a:p>
          <a:p>
            <a:pPr indent="0" lvl="0" marL="0" rtl="0" algn="l">
              <a:lnSpc>
                <a:spcPct val="100000"/>
              </a:lnSpc>
              <a:spcBef>
                <a:spcPts val="1200"/>
              </a:spcBef>
              <a:spcAft>
                <a:spcPts val="0"/>
              </a:spcAft>
              <a:buClr>
                <a:schemeClr val="dk1"/>
              </a:buClr>
              <a:buSzPts val="1100"/>
              <a:buFont typeface="Arial"/>
              <a:buNone/>
            </a:pPr>
            <a:r>
              <a:rPr lang="en-US" sz="2000"/>
              <a:t>Understanding client behavior is foundational for wealth management strategy. This analysis examines 29,930 active clients ($24.4B) to identify behavioral segments, risk concentrations, and business opportunities.</a:t>
            </a:r>
            <a:endParaRPr sz="2000"/>
          </a:p>
          <a:p>
            <a:pPr indent="0" lvl="0" marL="0" rtl="0" algn="l">
              <a:lnSpc>
                <a:spcPct val="100000"/>
              </a:lnSpc>
              <a:spcBef>
                <a:spcPts val="1200"/>
              </a:spcBef>
              <a:spcAft>
                <a:spcPts val="0"/>
              </a:spcAft>
              <a:buClr>
                <a:schemeClr val="dk1"/>
              </a:buClr>
              <a:buSzPts val="1100"/>
              <a:buFont typeface="Arial"/>
              <a:buNone/>
            </a:pPr>
            <a:r>
              <a:rPr b="1" lang="en-US" sz="2000"/>
              <a:t>Key Findings:</a:t>
            </a:r>
            <a:endParaRPr b="1" sz="2000"/>
          </a:p>
          <a:p>
            <a:pPr indent="-355600" lvl="0" marL="457200" rtl="0" algn="l">
              <a:lnSpc>
                <a:spcPct val="100000"/>
              </a:lnSpc>
              <a:spcBef>
                <a:spcPts val="1200"/>
              </a:spcBef>
              <a:spcAft>
                <a:spcPts val="0"/>
              </a:spcAft>
              <a:buSzPts val="2000"/>
              <a:buChar char="●"/>
            </a:pPr>
            <a:r>
              <a:rPr b="1" lang="en-US" sz="2000"/>
              <a:t>Portfolio Behavior:</a:t>
            </a:r>
            <a:r>
              <a:rPr lang="en-US" sz="2000"/>
              <a:t xml:space="preserve"> 41.6% growing | 41.4% declining | 19.3% flat</a:t>
            </a:r>
            <a:endParaRPr sz="2000"/>
          </a:p>
          <a:p>
            <a:pPr indent="-355600" lvl="0" marL="457200" rtl="0" algn="l">
              <a:lnSpc>
                <a:spcPct val="100000"/>
              </a:lnSpc>
              <a:spcBef>
                <a:spcPts val="0"/>
              </a:spcBef>
              <a:spcAft>
                <a:spcPts val="0"/>
              </a:spcAft>
              <a:buSzPts val="2000"/>
              <a:buChar char="●"/>
            </a:pPr>
            <a:r>
              <a:rPr b="1" lang="en-US" sz="2000"/>
              <a:t>Risk Profile:</a:t>
            </a:r>
            <a:r>
              <a:rPr lang="en-US" sz="2000"/>
              <a:t xml:space="preserve"> 98% standard-risk | 1.97% high-attention (requires enhanced monitoring)</a:t>
            </a:r>
            <a:endParaRPr sz="2000"/>
          </a:p>
          <a:p>
            <a:pPr indent="-355600" lvl="0" marL="457200" rtl="0" algn="l">
              <a:lnSpc>
                <a:spcPct val="100000"/>
              </a:lnSpc>
              <a:spcBef>
                <a:spcPts val="0"/>
              </a:spcBef>
              <a:spcAft>
                <a:spcPts val="0"/>
              </a:spcAft>
              <a:buSzPts val="2000"/>
              <a:buChar char="●"/>
            </a:pPr>
            <a:r>
              <a:rPr b="1" lang="en-US" sz="2000"/>
              <a:t>Consolidation Opportunity:</a:t>
            </a:r>
            <a:r>
              <a:rPr lang="en-US" sz="2000"/>
              <a:t xml:space="preserve"> $1.1B external assets → $11M annual fee potential</a:t>
            </a:r>
            <a:endParaRPr sz="2000"/>
          </a:p>
          <a:p>
            <a:pPr indent="0" lvl="0" marL="0" rtl="0" algn="l">
              <a:lnSpc>
                <a:spcPct val="100000"/>
              </a:lnSpc>
              <a:spcBef>
                <a:spcPts val="1200"/>
              </a:spcBef>
              <a:spcAft>
                <a:spcPts val="0"/>
              </a:spcAft>
              <a:buClr>
                <a:schemeClr val="dk1"/>
              </a:buClr>
              <a:buSzPts val="1100"/>
              <a:buFont typeface="Arial"/>
              <a:buNone/>
            </a:pPr>
            <a:r>
              <a:rPr lang="en-US" sz="2000"/>
              <a:t>Declining clients paradoxically present highest opportunity: 6.6% external-asset ratio suggests consolidation readiness. By segmenting clients systematically—by behavior, risk, and opportunity—this analysis enables data-driven advisor prioritization and wealth management strategy.</a:t>
            </a:r>
            <a:endParaRPr sz="2000"/>
          </a:p>
          <a:p>
            <a:pPr indent="0" lvl="0" marL="0" rtl="0" algn="l">
              <a:lnSpc>
                <a:spcPct val="100000"/>
              </a:lnSpc>
              <a:spcBef>
                <a:spcPts val="2500"/>
              </a:spcBef>
              <a:spcAft>
                <a:spcPts val="0"/>
              </a:spcAft>
              <a:buClr>
                <a:schemeClr val="dk1"/>
              </a:buClr>
              <a:buSzPts val="2083"/>
              <a:buNone/>
            </a:pPr>
            <a:r>
              <a:t/>
            </a:r>
            <a:endParaRPr b="1" sz="2000"/>
          </a:p>
        </p:txBody>
      </p:sp>
      <p:sp>
        <p:nvSpPr>
          <p:cNvPr id="63" name="Google Shape;63;p3"/>
          <p:cNvSpPr txBox="1"/>
          <p:nvPr>
            <p:ph idx="4" type="body"/>
          </p:nvPr>
        </p:nvSpPr>
        <p:spPr>
          <a:xfrm>
            <a:off x="1893175" y="13267803"/>
            <a:ext cx="9400800" cy="1134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800"/>
              </a:spcBef>
              <a:spcAft>
                <a:spcPts val="0"/>
              </a:spcAft>
              <a:buClr>
                <a:schemeClr val="dk1"/>
              </a:buClr>
              <a:buSzPts val="1100"/>
              <a:buFont typeface="Arial"/>
              <a:buNone/>
            </a:pPr>
            <a:r>
              <a:rPr b="1" lang="en-US" sz="2000"/>
              <a:t>Why This Matters</a:t>
            </a:r>
            <a:endParaRPr b="1" sz="2000"/>
          </a:p>
          <a:p>
            <a:pPr indent="0" lvl="0" marL="0" rtl="0" algn="l">
              <a:lnSpc>
                <a:spcPct val="100000"/>
              </a:lnSpc>
              <a:spcBef>
                <a:spcPts val="1200"/>
              </a:spcBef>
              <a:spcAft>
                <a:spcPts val="0"/>
              </a:spcAft>
              <a:buClr>
                <a:schemeClr val="dk1"/>
              </a:buClr>
              <a:buSzPts val="1100"/>
              <a:buFont typeface="Arial"/>
              <a:buNone/>
            </a:pPr>
            <a:r>
              <a:rPr lang="en-US" sz="2000"/>
              <a:t>Wealth managers oversee billions in client assets but lack systematic client understanding. At RBC, 29,930 active clients, $24.4B wealth—which segments warrant retention focus? Which need risk monitoring? Which are consolidation targets?</a:t>
            </a:r>
            <a:endParaRPr sz="2000"/>
          </a:p>
          <a:p>
            <a:pPr indent="0" lvl="0" marL="0" rtl="0" algn="l">
              <a:lnSpc>
                <a:spcPct val="100000"/>
              </a:lnSpc>
              <a:spcBef>
                <a:spcPts val="1800"/>
              </a:spcBef>
              <a:spcAft>
                <a:spcPts val="0"/>
              </a:spcAft>
              <a:buClr>
                <a:schemeClr val="dk1"/>
              </a:buClr>
              <a:buSzPts val="1100"/>
              <a:buFont typeface="Arial"/>
              <a:buNone/>
            </a:pPr>
            <a:r>
              <a:rPr b="1" lang="en-US" sz="2000"/>
              <a:t>Three Key Questions → Three Answers</a:t>
            </a:r>
            <a:endParaRPr b="1" sz="2000"/>
          </a:p>
          <a:p>
            <a:pPr indent="0" lvl="0" marL="0" rtl="0" algn="l">
              <a:lnSpc>
                <a:spcPct val="100000"/>
              </a:lnSpc>
              <a:spcBef>
                <a:spcPts val="1200"/>
              </a:spcBef>
              <a:spcAft>
                <a:spcPts val="0"/>
              </a:spcAft>
              <a:buClr>
                <a:schemeClr val="dk1"/>
              </a:buClr>
              <a:buSzPts val="1100"/>
              <a:buFont typeface="Arial"/>
              <a:buNone/>
            </a:pPr>
            <a:r>
              <a:rPr b="1" lang="en-US" sz="2000"/>
              <a:t>Q1: How do clients perform?</a:t>
            </a:r>
            <a:br>
              <a:rPr b="1" lang="en-US" sz="2000"/>
            </a:br>
            <a:r>
              <a:rPr lang="en-US" sz="2000"/>
              <a:t xml:space="preserve"> A: Balanced base—41.6% growing, 41.4% declining. Requires differentiated engagement.</a:t>
            </a:r>
            <a:endParaRPr sz="2000"/>
          </a:p>
          <a:p>
            <a:pPr indent="0" lvl="0" marL="0" rtl="0" algn="l">
              <a:lnSpc>
                <a:spcPct val="100000"/>
              </a:lnSpc>
              <a:spcBef>
                <a:spcPts val="1200"/>
              </a:spcBef>
              <a:spcAft>
                <a:spcPts val="0"/>
              </a:spcAft>
              <a:buClr>
                <a:schemeClr val="dk1"/>
              </a:buClr>
              <a:buSzPts val="1100"/>
              <a:buFont typeface="Arial"/>
              <a:buNone/>
            </a:pPr>
            <a:r>
              <a:rPr b="1" lang="en-US" sz="2000"/>
              <a:t>Q2: Where is risk concentrated?</a:t>
            </a:r>
            <a:br>
              <a:rPr b="1" lang="en-US" sz="2000"/>
            </a:br>
            <a:r>
              <a:rPr lang="en-US" sz="2000"/>
              <a:t xml:space="preserve"> A: Efficient concentration—98% standard-risk. Only 589 high-attention clients need enhanced monitoring.</a:t>
            </a:r>
            <a:endParaRPr sz="2000"/>
          </a:p>
          <a:p>
            <a:pPr indent="0" lvl="0" marL="0" rtl="0" algn="l">
              <a:lnSpc>
                <a:spcPct val="100000"/>
              </a:lnSpc>
              <a:spcBef>
                <a:spcPts val="1200"/>
              </a:spcBef>
              <a:spcAft>
                <a:spcPts val="0"/>
              </a:spcAft>
              <a:buClr>
                <a:schemeClr val="dk1"/>
              </a:buClr>
              <a:buSzPts val="1100"/>
              <a:buFont typeface="Arial"/>
              <a:buNone/>
            </a:pPr>
            <a:r>
              <a:rPr b="1" lang="en-US" sz="2000"/>
              <a:t>Q3: What consolidation opportunity exists?</a:t>
            </a:r>
            <a:br>
              <a:rPr b="1" lang="en-US" sz="2000"/>
            </a:br>
            <a:r>
              <a:rPr lang="en-US" sz="2000"/>
              <a:t xml:space="preserve"> A: $1.1B external assets. Declining clients show highest readiness (6.6% external ratio).</a:t>
            </a:r>
            <a:endParaRPr sz="2000"/>
          </a:p>
          <a:p>
            <a:pPr indent="0" lvl="0" marL="0" rtl="0" algn="l">
              <a:lnSpc>
                <a:spcPct val="100000"/>
              </a:lnSpc>
              <a:spcBef>
                <a:spcPts val="1800"/>
              </a:spcBef>
              <a:spcAft>
                <a:spcPts val="0"/>
              </a:spcAft>
              <a:buClr>
                <a:schemeClr val="dk1"/>
              </a:buClr>
              <a:buSzPts val="1100"/>
              <a:buFont typeface="Arial"/>
              <a:buNone/>
            </a:pPr>
            <a:r>
              <a:rPr b="1" lang="en-US" sz="2000"/>
              <a:t>Key Insight</a:t>
            </a:r>
            <a:endParaRPr b="1" sz="2000"/>
          </a:p>
          <a:p>
            <a:pPr indent="0" lvl="0" marL="0" rtl="0" algn="l">
              <a:lnSpc>
                <a:spcPct val="100000"/>
              </a:lnSpc>
              <a:spcBef>
                <a:spcPts val="1200"/>
              </a:spcBef>
              <a:spcAft>
                <a:spcPts val="0"/>
              </a:spcAft>
              <a:buClr>
                <a:schemeClr val="dk1"/>
              </a:buClr>
              <a:buSzPts val="1100"/>
              <a:buFont typeface="Arial"/>
              <a:buNone/>
            </a:pPr>
            <a:r>
              <a:rPr b="1" lang="en-US" sz="2000"/>
              <a:t>Declining clients ≠ just retention risk.</a:t>
            </a:r>
            <a:r>
              <a:rPr lang="en-US" sz="2000"/>
              <a:t xml:space="preserve"> They're the highest-opportunity consolidation target. Portfolio review + consolidation discussion = retention + growth.</a:t>
            </a:r>
            <a:endParaRPr sz="2000"/>
          </a:p>
          <a:p>
            <a:pPr indent="0" lvl="0" marL="0" rtl="0" algn="l">
              <a:lnSpc>
                <a:spcPct val="100000"/>
              </a:lnSpc>
              <a:spcBef>
                <a:spcPts val="1800"/>
              </a:spcBef>
              <a:spcAft>
                <a:spcPts val="0"/>
              </a:spcAft>
              <a:buClr>
                <a:schemeClr val="dk1"/>
              </a:buClr>
              <a:buSzPts val="1100"/>
              <a:buFont typeface="Arial"/>
              <a:buNone/>
            </a:pPr>
            <a:r>
              <a:rPr b="1" lang="en-US" sz="2000"/>
              <a:t>Impact</a:t>
            </a:r>
            <a:endParaRPr b="1" sz="2000"/>
          </a:p>
          <a:p>
            <a:pPr indent="-355600" lvl="0" marL="457200" rtl="0" algn="l">
              <a:lnSpc>
                <a:spcPct val="100000"/>
              </a:lnSpc>
              <a:spcBef>
                <a:spcPts val="1200"/>
              </a:spcBef>
              <a:spcAft>
                <a:spcPts val="0"/>
              </a:spcAft>
              <a:buSzPts val="2000"/>
              <a:buChar char="●"/>
            </a:pPr>
            <a:r>
              <a:rPr b="1" lang="en-US" sz="2000"/>
              <a:t>Retention:</a:t>
            </a:r>
            <a:r>
              <a:rPr lang="en-US" sz="2000"/>
              <a:t xml:space="preserve"> Declining clients identified for proactive outreach</a:t>
            </a:r>
            <a:endParaRPr sz="2000"/>
          </a:p>
          <a:p>
            <a:pPr indent="-355600" lvl="0" marL="457200" rtl="0" algn="l">
              <a:lnSpc>
                <a:spcPct val="100000"/>
              </a:lnSpc>
              <a:spcBef>
                <a:spcPts val="0"/>
              </a:spcBef>
              <a:spcAft>
                <a:spcPts val="0"/>
              </a:spcAft>
              <a:buSzPts val="2000"/>
              <a:buChar char="●"/>
            </a:pPr>
            <a:r>
              <a:rPr b="1" lang="en-US" sz="2000"/>
              <a:t>Risk Management:</a:t>
            </a:r>
            <a:r>
              <a:rPr lang="en-US" sz="2000"/>
              <a:t xml:space="preserve"> 589 VIP clients flagged for enhanced monitoring</a:t>
            </a:r>
            <a:endParaRPr sz="2000"/>
          </a:p>
          <a:p>
            <a:pPr indent="-355600" lvl="0" marL="457200" rtl="0" algn="l">
              <a:lnSpc>
                <a:spcPct val="100000"/>
              </a:lnSpc>
              <a:spcBef>
                <a:spcPts val="0"/>
              </a:spcBef>
              <a:spcAft>
                <a:spcPts val="0"/>
              </a:spcAft>
              <a:buSzPts val="2000"/>
              <a:buChar char="●"/>
            </a:pPr>
            <a:r>
              <a:rPr b="1" lang="en-US" sz="2000"/>
              <a:t>Growth:</a:t>
            </a:r>
            <a:r>
              <a:rPr lang="en-US" sz="2000"/>
              <a:t xml:space="preserve"> $11M annual fee potential through systematic consolidation</a:t>
            </a:r>
            <a:endParaRPr sz="2000"/>
          </a:p>
          <a:p>
            <a:pPr indent="0" lvl="0" marL="0" rtl="0" algn="l">
              <a:lnSpc>
                <a:spcPct val="100000"/>
              </a:lnSpc>
              <a:spcBef>
                <a:spcPts val="1200"/>
              </a:spcBef>
              <a:spcAft>
                <a:spcPts val="0"/>
              </a:spcAft>
              <a:buClr>
                <a:schemeClr val="dk1"/>
              </a:buClr>
              <a:buSzPts val="2667"/>
              <a:buNone/>
            </a:pPr>
            <a:r>
              <a:t/>
            </a:r>
            <a:endParaRPr b="1" sz="2000"/>
          </a:p>
        </p:txBody>
      </p:sp>
      <p:sp>
        <p:nvSpPr>
          <p:cNvPr id="64" name="Google Shape;64;p3"/>
          <p:cNvSpPr txBox="1"/>
          <p:nvPr>
            <p:ph idx="5" type="body"/>
          </p:nvPr>
        </p:nvSpPr>
        <p:spPr>
          <a:xfrm>
            <a:off x="13851800" y="14430429"/>
            <a:ext cx="9602700" cy="6038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rPr lang="en-US"/>
              <a:t>The Money Movement M</a:t>
            </a:r>
            <a:r>
              <a:rPr lang="en-US"/>
              <a:t>odel achieved ROC-AUC of 0.999. Of 30,200 active clients scored: 556 flagged as Outflow Risk ($838M combined withdrawals) and 643 as Consolidation Opportunity ($789M in external AUM). Cross-validation confirmed 455 of 1,308 manually flagged at-risk accounts as genuine outflow risk ($817M at stake).</a:t>
            </a:r>
            <a:endParaRPr/>
          </a:p>
          <a:p>
            <a:pPr indent="0" lvl="0" marL="0" rtl="0" algn="l">
              <a:lnSpc>
                <a:spcPct val="90000"/>
              </a:lnSpc>
              <a:spcBef>
                <a:spcPts val="200"/>
              </a:spcBef>
              <a:spcAft>
                <a:spcPts val="0"/>
              </a:spcAft>
              <a:buNone/>
            </a:pPr>
            <a:r>
              <a:rPr lang="en-US" b="1"/>
              <a:t>Beneficiary Conversion Model:</a:t>
            </a:r>
            <a:r>
              <a:rPr lang="en-US"/>
              <a:t xml:space="preserve"> The XGBoost classifier achieved a test ROC-AUC of 0.9574 and average precision of 0.9455 — consistent across train, cross-validation, and test splits, confirming no overfitting. Approximately 65% of all converters are captured in the top-scoring quintile. Of 107,870 non-client associations scored, 3,582 were identified as priority prospects: 1,585 Very High (conversion probability ≥ 70%) and 1,997 High (50–70%). Household membership (in_client_household) was by far the strongest predictor, followed by number of associated households and owner age. KMeans clustering (k = 3) revealed three actionable prospect segments: Segment 1 — Older Wealth-Adjacent (3,582 parties, avg prob 0.76), the dominant group associated with accounts held by primary owners aged 60+; Segment 2 — High-Value Associates (50 parties, avg prob 0.81), linked to the largest portfolio balances and highest revenue potential per prospect; Segment 3 — Minors / Long-term Pipeline (3 parties, avg prob 0.72), representing future acquisition opportunities as they approach financial independence.</a:t>
            </a:r>
            <a:endParaRPr/>
          </a:p>
        </p:txBody>
      </p:sp>
      <p:sp>
        <p:nvSpPr>
          <p:cNvPr id="65" name="Google Shape;65;p3"/>
          <p:cNvSpPr txBox="1"/>
          <p:nvPr>
            <p:ph idx="6" type="body"/>
          </p:nvPr>
        </p:nvSpPr>
        <p:spPr>
          <a:xfrm>
            <a:off x="13851800" y="5453299"/>
            <a:ext cx="9602700" cy="4357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t/>
            </a:r>
            <a:endParaRPr/>
          </a:p>
          <a:p>
            <a:pPr indent="0" lvl="0" marL="0" rtl="0" algn="l">
              <a:lnSpc>
                <a:spcPct val="90000"/>
              </a:lnSpc>
              <a:spcBef>
                <a:spcPts val="0"/>
              </a:spcBef>
              <a:spcAft>
                <a:spcPts val="0"/>
              </a:spcAft>
              <a:buClr>
                <a:schemeClr val="dk1"/>
              </a:buClr>
              <a:buSzPts val="2083"/>
              <a:buNone/>
            </a:pPr>
            <a:r>
              <a:rPr lang="en-US"/>
              <a:t>For Money Movement Model, we used R</a:t>
            </a:r>
            <a:r>
              <a:rPr lang="en-US"/>
              <a:t>andom Forest classifier trained on 30,200 active RBC clients. Labels engineered from behavioral signals: Outflow Risk, Consolidation Opportunity, and Neutral. SMOTE oversampling applied to address class imbalance. 11 features used, primarily from Yodlee external account data and Broadridge transaction history.</a:t>
            </a:r>
            <a:endParaRPr/>
          </a:p>
          <a:p>
            <a:pPr indent="0" lvl="0" marL="0" rtl="0" algn="l">
              <a:lnSpc>
                <a:spcPct val="90000"/>
              </a:lnSpc>
              <a:spcBef>
                <a:spcPts val="200"/>
              </a:spcBef>
              <a:spcAft>
                <a:spcPts val="0"/>
              </a:spcAft>
              <a:buNone/>
            </a:pPr>
            <a:r>
              <a:rPr lang="en-US" b="1"/>
              <a:t>Beneficiary Conversion Model:</a:t>
            </a:r>
            <a:r>
              <a:rPr lang="en-US"/>
              <a:t xml:space="preserve"> XGBoost classifier trained on 107,870 non-client party associations. 57 features engineered exclusively from non-client relationships to RBC accounts — demographics, household membership, beneficiary roles, inheritance proximity signals, and campaign engagement history. Deliberately leakage-free design ensures all features are observable from the prospecting side only. scale_pos_weight used to handle class imbalance; 60/20/20 stratified train/val/test split with 5-fold cross-validation and early stopping (20 rounds) on validation AUC. Output: conversion probability (0–1) per non-client, assigned to priority tiers (Low / Medium / High / Very High) and clustered into 3 prospect segments via KMeans (k = 3).</a:t>
            </a:r>
            <a:endParaRPr/>
          </a:p>
        </p:txBody>
      </p:sp>
      <p:sp>
        <p:nvSpPr>
          <p:cNvPr id="66" name="Google Shape;66;p3"/>
          <p:cNvSpPr txBox="1"/>
          <p:nvPr>
            <p:ph idx="13" type="body"/>
          </p:nvPr>
        </p:nvSpPr>
        <p:spPr>
          <a:xfrm>
            <a:off x="25645450" y="11289188"/>
            <a:ext cx="10797900" cy="5817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000"/>
              <a:buNone/>
            </a:pPr>
            <a:r>
              <a:rPr lang="en-US" sz="2000"/>
              <a:t xml:space="preserve">Wealth management advisors operate with limited time and an incomplete picture of where that time is best spent. This project built three predictive models — portfolio segmentation, money movement prediction, and beneficiary conversion scoring — not as independent analyses but as a connected system. The combined output is an advisor prioritization framework that translates client and prospect data into actionable strategy signals (Figures 1 and 2). </a:t>
            </a:r>
            <a:endParaRPr sz="2000"/>
          </a:p>
          <a:p>
            <a:pPr indent="0" lvl="0" marL="0" rtl="0" algn="l">
              <a:lnSpc>
                <a:spcPct val="90000"/>
              </a:lnSpc>
              <a:spcBef>
                <a:spcPts val="0"/>
              </a:spcBef>
              <a:spcAft>
                <a:spcPts val="0"/>
              </a:spcAft>
              <a:buClr>
                <a:schemeClr val="dk1"/>
              </a:buClr>
              <a:buSzPts val="2000"/>
              <a:buNone/>
            </a:pPr>
            <a:r>
              <a:t/>
            </a:r>
            <a:endParaRPr sz="2000"/>
          </a:p>
          <a:p>
            <a:pPr indent="0" lvl="0" marL="0" rtl="0" algn="l">
              <a:lnSpc>
                <a:spcPct val="90000"/>
              </a:lnSpc>
              <a:spcBef>
                <a:spcPts val="0"/>
              </a:spcBef>
              <a:spcAft>
                <a:spcPts val="0"/>
              </a:spcAft>
              <a:buClr>
                <a:schemeClr val="dk1"/>
              </a:buClr>
              <a:buSzPts val="2000"/>
              <a:buNone/>
            </a:pPr>
            <a:r>
              <a:rPr lang="en-US" sz="2000"/>
              <a:t>The models surface three opportunity windows that would not be visible from the data alone. The 455 highest-confidence outflow-risk clients are long-tenured and older on average, suggesting wealth in motion due to life stage rather than dissatisfaction with RBC. The 643 consolidation targets are concentrated in their early 50s, a period where research consistently shows clients are most open to simplifying their financial lives. And the roughly 1,600 beneficiary conversion prospects are already embedded in existing client households, making them reachable through relationships RBC already holds. These findings should be read as signals rather than certainties. The models were trained on historical behavior and cannot confirm intent behind any individual data point. Critically, the framework has not yet been validated against live advisor outcomes, which remains the most important next step. Testing the strategy recommendations against real retention and conversion results over a defined period would move this work from a predictive model to a proven playbook.</a:t>
            </a:r>
            <a:endParaRPr sz="2000"/>
          </a:p>
          <a:p>
            <a:pPr indent="0" lvl="0" marL="0" rtl="0" algn="l">
              <a:lnSpc>
                <a:spcPct val="90000"/>
              </a:lnSpc>
              <a:spcBef>
                <a:spcPts val="0"/>
              </a:spcBef>
              <a:spcAft>
                <a:spcPts val="0"/>
              </a:spcAft>
              <a:buClr>
                <a:schemeClr val="dk1"/>
              </a:buClr>
              <a:buSzPts val="2000"/>
              <a:buNone/>
            </a:pPr>
            <a:r>
              <a:t/>
            </a:r>
            <a:endParaRPr sz="2000"/>
          </a:p>
        </p:txBody>
      </p:sp>
      <p:sp>
        <p:nvSpPr>
          <p:cNvPr id="67" name="Google Shape;67;p3"/>
          <p:cNvSpPr txBox="1"/>
          <p:nvPr>
            <p:ph idx="14" type="body"/>
          </p:nvPr>
        </p:nvSpPr>
        <p:spPr>
          <a:xfrm>
            <a:off x="25645450" y="18210900"/>
            <a:ext cx="10366800" cy="5562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200"/>
              </a:spcBef>
              <a:spcAft>
                <a:spcPts val="0"/>
              </a:spcAft>
              <a:buClr>
                <a:schemeClr val="dk1"/>
              </a:buClr>
              <a:buSzPts val="1100"/>
              <a:buFont typeface="Arial"/>
              <a:buNone/>
            </a:pPr>
            <a:r>
              <a:rPr lang="en-US" sz="2000"/>
              <a:t>This project demonstrates that the data wealth management firms already hold about their clients and client-adjacent relationships contains a level of strategic signal that routine reporting does not surface. By applying machine learning across three distinct but connected analytical workstreams, we were able to move from raw behavioral data to a structured, advisor-ready prioritization framework — one that distinguishes between clients who need retention attention, clients who are positioned to deepen their relationship with RBC, and non-clients who are already close enough to convert.</a:t>
            </a:r>
            <a:endParaRPr sz="2000"/>
          </a:p>
          <a:p>
            <a:pPr indent="0" lvl="0" marL="0" rtl="0" algn="l">
              <a:lnSpc>
                <a:spcPct val="90000"/>
              </a:lnSpc>
              <a:spcBef>
                <a:spcPts val="1200"/>
              </a:spcBef>
              <a:spcAft>
                <a:spcPts val="0"/>
              </a:spcAft>
              <a:buClr>
                <a:schemeClr val="dk1"/>
              </a:buClr>
              <a:buSzPts val="1100"/>
              <a:buFont typeface="Arial"/>
              <a:buNone/>
            </a:pPr>
            <a:r>
              <a:rPr lang="en-US" sz="2000"/>
              <a:t>The framework is not a prediction about what clients might do in theory. It is grounded in observed behavioral patterns across 30,200 active clients and over 107,000 non-client parties, validated on held-out test data, and calibrated to the specific relationship structures that characterize wealth management at this scale. The models perform with high confidence — outflow and consolidation flags carry over 99% model certainty for the flagged population — which means the lists advisors receive are decisive rather than probabilistic.</a:t>
            </a:r>
            <a:endParaRPr sz="2000"/>
          </a:p>
          <a:p>
            <a:pPr indent="0" lvl="0" marL="0" rtl="0" algn="l">
              <a:lnSpc>
                <a:spcPct val="90000"/>
              </a:lnSpc>
              <a:spcBef>
                <a:spcPts val="1200"/>
              </a:spcBef>
              <a:spcAft>
                <a:spcPts val="0"/>
              </a:spcAft>
              <a:buClr>
                <a:schemeClr val="dk1"/>
              </a:buClr>
              <a:buSzPts val="1100"/>
              <a:buFont typeface="Arial"/>
              <a:buNone/>
            </a:pPr>
            <a:r>
              <a:rPr lang="en-US" sz="2000"/>
              <a:t>The practical implication is significant. Across retention risk, consolidation opportunity, and beneficiary conversion, this framework identifies nearly $1.6 billion in combined at-risk and capturable assets, plus approximately 1,600 future clients already embedded in RBC's existing network. That is not a pipeline to be built. It is already there — and this framework tells advisors exactly where to look.</a:t>
            </a:r>
            <a:endParaRPr sz="2000"/>
          </a:p>
          <a:p>
            <a:pPr indent="0" lvl="0" marL="0" rtl="0" algn="l">
              <a:lnSpc>
                <a:spcPct val="90000"/>
              </a:lnSpc>
              <a:spcBef>
                <a:spcPts val="1200"/>
              </a:spcBef>
              <a:spcAft>
                <a:spcPts val="1200"/>
              </a:spcAft>
              <a:buClr>
                <a:schemeClr val="dk1"/>
              </a:buClr>
              <a:buSzPts val="2000"/>
              <a:buNone/>
            </a:pPr>
            <a:r>
              <a:t/>
            </a:r>
            <a:endParaRPr sz="2000"/>
          </a:p>
        </p:txBody>
      </p:sp>
      <p:sp>
        <p:nvSpPr>
          <p:cNvPr id="68" name="Google Shape;68;p3"/>
          <p:cNvSpPr txBox="1"/>
          <p:nvPr>
            <p:ph idx="15" type="body"/>
          </p:nvPr>
        </p:nvSpPr>
        <p:spPr>
          <a:xfrm>
            <a:off x="12891050" y="811550"/>
            <a:ext cx="15158100" cy="1278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1"/>
              </a:buClr>
              <a:buSzPts val="3750"/>
              <a:buNone/>
            </a:pPr>
            <a:r>
              <a:rPr lang="en-US"/>
              <a:t>Behavioral Signal Detection and Advisor Prioritization in Wealth Management: A Multi-Model Approach for RBC</a:t>
            </a:r>
            <a:endParaRPr/>
          </a:p>
        </p:txBody>
      </p:sp>
      <p:sp>
        <p:nvSpPr>
          <p:cNvPr id="69" name="Google Shape;69;p3"/>
          <p:cNvSpPr txBox="1"/>
          <p:nvPr>
            <p:ph idx="17" type="body"/>
          </p:nvPr>
        </p:nvSpPr>
        <p:spPr>
          <a:xfrm>
            <a:off x="4242198" y="25378600"/>
            <a:ext cx="10091100" cy="11964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lt1"/>
              </a:buClr>
              <a:buSzPts val="2500"/>
              <a:buNone/>
            </a:pPr>
            <a:r>
              <a:rPr lang="en-US"/>
              <a:t>Aditi Beesani (</a:t>
            </a:r>
            <a:r>
              <a:rPr lang="en-US" u="sng">
                <a:hlinkClick r:id="rId3"/>
              </a:rPr>
              <a:t>abeesani@tepper.cmu.edu</a:t>
            </a:r>
            <a:r>
              <a:rPr lang="en-US"/>
              <a:t>)</a:t>
            </a:r>
            <a:endParaRPr/>
          </a:p>
          <a:p>
            <a:pPr indent="0" lvl="0" marL="0" rtl="0" algn="l">
              <a:lnSpc>
                <a:spcPct val="120000"/>
              </a:lnSpc>
              <a:spcBef>
                <a:spcPts val="0"/>
              </a:spcBef>
              <a:spcAft>
                <a:spcPts val="0"/>
              </a:spcAft>
              <a:buClr>
                <a:schemeClr val="lt1"/>
              </a:buClr>
              <a:buSzPts val="2500"/>
              <a:buNone/>
            </a:pPr>
            <a:r>
              <a:rPr lang="en-US"/>
              <a:t>Celeste Zhou (</a:t>
            </a:r>
            <a:r>
              <a:rPr lang="en-US" u="sng">
                <a:hlinkClick r:id="rId4"/>
              </a:rPr>
              <a:t>celestez@tepper.cmu.edu</a:t>
            </a:r>
            <a:r>
              <a:rPr lang="en-US"/>
              <a:t>)</a:t>
            </a:r>
            <a:endParaRPr/>
          </a:p>
          <a:p>
            <a:pPr indent="0" lvl="0" marL="0" rtl="0" algn="l">
              <a:lnSpc>
                <a:spcPct val="120000"/>
              </a:lnSpc>
              <a:spcBef>
                <a:spcPts val="0"/>
              </a:spcBef>
              <a:spcAft>
                <a:spcPts val="0"/>
              </a:spcAft>
              <a:buClr>
                <a:schemeClr val="lt1"/>
              </a:buClr>
              <a:buSzPts val="2500"/>
              <a:buNone/>
            </a:pPr>
            <a:r>
              <a:rPr lang="en-US"/>
              <a:t>Kevin Wang (</a:t>
            </a:r>
            <a:r>
              <a:rPr lang="en-US" u="sng">
                <a:hlinkClick r:id="rId5"/>
              </a:rPr>
              <a:t>kwang5@tepper.cmu.edu</a:t>
            </a:r>
            <a:r>
              <a:rPr lang="en-US"/>
              <a:t>)</a:t>
            </a:r>
            <a:endParaRPr/>
          </a:p>
          <a:p>
            <a:pPr indent="0" lvl="0" marL="0" rtl="0" algn="l">
              <a:lnSpc>
                <a:spcPct val="120000"/>
              </a:lnSpc>
              <a:spcBef>
                <a:spcPts val="0"/>
              </a:spcBef>
              <a:spcAft>
                <a:spcPts val="0"/>
              </a:spcAft>
              <a:buClr>
                <a:schemeClr val="lt1"/>
              </a:buClr>
              <a:buSzPts val="2500"/>
              <a:buNone/>
            </a:pPr>
            <a:r>
              <a:rPr lang="en-US"/>
              <a:t>Natasha Niranjan (</a:t>
            </a:r>
            <a:r>
              <a:rPr lang="en-US" u="sng">
                <a:hlinkClick r:id="rId6"/>
              </a:rPr>
              <a:t>nniranj2@tepper.cmu.edu</a:t>
            </a:r>
            <a:r>
              <a:rPr lang="en-US"/>
              <a:t>)</a:t>
            </a:r>
            <a:r>
              <a:rPr lang="en-US"/>
              <a:t xml:space="preserve"> </a:t>
            </a:r>
            <a:endParaRPr/>
          </a:p>
          <a:p>
            <a:pPr indent="0" lvl="0" marL="0" rtl="0" algn="l">
              <a:lnSpc>
                <a:spcPct val="120000"/>
              </a:lnSpc>
              <a:spcBef>
                <a:spcPts val="0"/>
              </a:spcBef>
              <a:spcAft>
                <a:spcPts val="0"/>
              </a:spcAft>
              <a:buClr>
                <a:schemeClr val="lt1"/>
              </a:buClr>
              <a:buSzPts val="2500"/>
              <a:buNone/>
            </a:pPr>
            <a:r>
              <a:t/>
            </a:r>
            <a:endParaRPr/>
          </a:p>
          <a:p>
            <a:pPr indent="0" lvl="0" marL="0" rtl="0" algn="l">
              <a:lnSpc>
                <a:spcPct val="120000"/>
              </a:lnSpc>
              <a:spcBef>
                <a:spcPts val="0"/>
              </a:spcBef>
              <a:spcAft>
                <a:spcPts val="0"/>
              </a:spcAft>
              <a:buClr>
                <a:schemeClr val="lt1"/>
              </a:buClr>
              <a:buSzPts val="2500"/>
              <a:buNone/>
            </a:pPr>
            <a:r>
              <a:t/>
            </a:r>
            <a:endParaRPr/>
          </a:p>
        </p:txBody>
      </p:sp>
      <p:pic>
        <p:nvPicPr>
          <p:cNvPr id="70" name="Google Shape;70;p3"/>
          <p:cNvPicPr preferRelativeResize="0"/>
          <p:nvPr/>
        </p:nvPicPr>
        <p:blipFill rotWithShape="1">
          <a:blip r:embed="rId7">
            <a:alphaModFix/>
          </a:blip>
          <a:srcRect b="0" l="0" r="0" t="0"/>
          <a:stretch/>
        </p:blipFill>
        <p:spPr>
          <a:xfrm>
            <a:off x="18760690" y="9810807"/>
            <a:ext cx="4693817" cy="3685030"/>
          </a:xfrm>
          <a:prstGeom prst="rect">
            <a:avLst/>
          </a:prstGeom>
          <a:noFill/>
          <a:ln>
            <a:noFill/>
          </a:ln>
        </p:spPr>
      </p:pic>
      <p:pic>
        <p:nvPicPr>
          <p:cNvPr id="71" name="Google Shape;71;p3"/>
          <p:cNvPicPr preferRelativeResize="0"/>
          <p:nvPr/>
        </p:nvPicPr>
        <p:blipFill rotWithShape="1">
          <a:blip r:embed="rId8">
            <a:alphaModFix/>
          </a:blip>
          <a:srcRect b="0" l="0" r="0" t="0"/>
          <a:stretch/>
        </p:blipFill>
        <p:spPr>
          <a:xfrm>
            <a:off x="19116651" y="20468988"/>
            <a:ext cx="4337858" cy="3694176"/>
          </a:xfrm>
          <a:prstGeom prst="rect">
            <a:avLst/>
          </a:prstGeom>
          <a:noFill/>
          <a:ln>
            <a:noFill/>
          </a:ln>
        </p:spPr>
      </p:pic>
      <p:pic>
        <p:nvPicPr>
          <p:cNvPr id="72" name="Google Shape;72;p3"/>
          <p:cNvPicPr preferRelativeResize="0"/>
          <p:nvPr/>
        </p:nvPicPr>
        <p:blipFill>
          <a:blip r:embed="rId9">
            <a:alphaModFix/>
          </a:blip>
          <a:stretch>
            <a:fillRect/>
          </a:stretch>
        </p:blipFill>
        <p:spPr>
          <a:xfrm>
            <a:off x="24687800" y="4422875"/>
            <a:ext cx="5871262" cy="3710300"/>
          </a:xfrm>
          <a:prstGeom prst="rect">
            <a:avLst/>
          </a:prstGeom>
          <a:noFill/>
          <a:ln>
            <a:noFill/>
          </a:ln>
        </p:spPr>
      </p:pic>
      <p:pic>
        <p:nvPicPr>
          <p:cNvPr id="73" name="Google Shape;73;p3"/>
          <p:cNvPicPr preferRelativeResize="0"/>
          <p:nvPr/>
        </p:nvPicPr>
        <p:blipFill rotWithShape="1">
          <a:blip r:embed="rId10">
            <a:alphaModFix/>
          </a:blip>
          <a:srcRect b="7579" l="0" r="0" t="0"/>
          <a:stretch/>
        </p:blipFill>
        <p:spPr>
          <a:xfrm>
            <a:off x="30441500" y="6772775"/>
            <a:ext cx="6508724" cy="3818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MSBA Poster">
      <a:dk1>
        <a:srgbClr val="000000"/>
      </a:dk1>
      <a:lt1>
        <a:srgbClr val="FFFFFF"/>
      </a:lt1>
      <a:dk2>
        <a:srgbClr val="44546A"/>
      </a:dk2>
      <a:lt2>
        <a:srgbClr val="E7E6E6"/>
      </a:lt2>
      <a:accent1>
        <a:srgbClr val="A6192C"/>
      </a:accent1>
      <a:accent2>
        <a:srgbClr val="BBBCBC"/>
      </a:accent2>
      <a:accent3>
        <a:srgbClr val="63666A"/>
      </a:accent3>
      <a:accent4>
        <a:srgbClr val="F2AF00"/>
      </a:accent4>
      <a:accent5>
        <a:srgbClr val="002D72"/>
      </a:accent5>
      <a:accent6>
        <a:srgbClr val="00843D"/>
      </a:accent6>
      <a:hlink>
        <a:srgbClr val="A6192C"/>
      </a:hlink>
      <a:folHlink>
        <a:srgbClr val="A6192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